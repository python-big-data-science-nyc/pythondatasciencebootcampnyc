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Lst>
  <p:notesMasterIdLst>
    <p:notesMasterId r:id="rId9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9B1C1C"/>
          </a:solidFill>
          <a:ln w="12700">
            <a:solidFill>
              <a:srgbClr val="9B1C1C"/>
            </a:solidFill>
            <a:prstDash val="solid"/>
          </a:ln>
        </p:spPr>
      </p:sp>
      <p:sp>
        <p:nvSpPr>
          <p:cNvPr id="3" name="Text 1"/>
          <p:cNvSpPr/>
          <p:nvPr/>
        </p:nvSpPr>
        <p:spPr>
          <a:xfrm>
            <a:off x="457200" y="640080"/>
            <a:ext cx="8229600" cy="548640"/>
          </a:xfrm>
          <a:prstGeom prst="rect">
            <a:avLst/>
          </a:prstGeom>
          <a:noFill/>
          <a:ln/>
        </p:spPr>
        <p:txBody>
          <a:bodyPr wrap="square" rtlCol="0" anchor="ctr"/>
          <a:lstStyle/>
          <a:p>
            <a:pPr algn="l" indent="0" marL="0">
              <a:buNone/>
            </a:pPr>
            <a:r>
              <a:rPr lang="en-US" sz="1300" b="1" dirty="0">
                <a:solidFill>
                  <a:srgbClr val="B8860B"/>
                </a:solidFill>
                <a:latin typeface="Calibri" pitchFamily="34" charset="0"/>
                <a:ea typeface="Calibri" pitchFamily="34" charset="-122"/>
                <a:cs typeface="Calibri" pitchFamily="34" charset="-120"/>
              </a:rPr>
              <a:t>CAMS EXAM PREP</a:t>
            </a:r>
            <a:endParaRPr lang="en-US" sz="1300" dirty="0"/>
          </a:p>
        </p:txBody>
      </p:sp>
      <p:sp>
        <p:nvSpPr>
          <p:cNvPr id="4" name="Text 2"/>
          <p:cNvSpPr/>
          <p:nvPr/>
        </p:nvSpPr>
        <p:spPr>
          <a:xfrm>
            <a:off x="457200" y="1234440"/>
            <a:ext cx="8229600" cy="9144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Domain A: Understanding Financial Crime</a:t>
            </a:r>
            <a:endParaRPr lang="en-US" sz="3200" dirty="0"/>
          </a:p>
        </p:txBody>
      </p:sp>
      <p:sp>
        <p:nvSpPr>
          <p:cNvPr id="5" name="Text 3"/>
          <p:cNvSpPr/>
          <p:nvPr/>
        </p:nvSpPr>
        <p:spPr>
          <a:xfrm>
            <a:off x="457200" y="2240280"/>
            <a:ext cx="8229600" cy="502920"/>
          </a:xfrm>
          <a:prstGeom prst="rect">
            <a:avLst/>
          </a:prstGeom>
          <a:noFill/>
          <a:ln/>
        </p:spPr>
        <p:txBody>
          <a:bodyPr wrap="square" rtlCol="0" anchor="ctr"/>
          <a:lstStyle/>
          <a:p>
            <a:pPr algn="l" indent="0" marL="0">
              <a:buNone/>
            </a:pPr>
            <a:r>
              <a:rPr lang="en-US" sz="1700" dirty="0">
                <a:solidFill>
                  <a:srgbClr val="CBD5E1"/>
                </a:solidFill>
                <a:latin typeface="Calibri" pitchFamily="34" charset="0"/>
                <a:ea typeface="Calibri" pitchFamily="34" charset="-122"/>
                <a:cs typeface="Calibri" pitchFamily="34" charset="-120"/>
              </a:rPr>
              <a:t>45 Hard Questions — Corrected &amp; Explained</a:t>
            </a:r>
            <a:endParaRPr lang="en-US" sz="1700" dirty="0"/>
          </a:p>
        </p:txBody>
      </p:sp>
      <p:sp>
        <p:nvSpPr>
          <p:cNvPr id="6" name="Text 4"/>
          <p:cNvSpPr/>
          <p:nvPr/>
        </p:nvSpPr>
        <p:spPr>
          <a:xfrm>
            <a:off x="457200" y="2834640"/>
            <a:ext cx="8229600" cy="548640"/>
          </a:xfrm>
          <a:prstGeom prst="rect">
            <a:avLst/>
          </a:prstGeom>
          <a:noFill/>
          <a:ln/>
        </p:spPr>
        <p:txBody>
          <a:bodyPr wrap="square" rtlCol="0" anchor="ctr"/>
          <a:lstStyle/>
          <a:p>
            <a:pPr algn="l" indent="0" marL="0">
              <a:buNone/>
            </a:pPr>
            <a:r>
              <a:rPr lang="en-US" sz="1000" i="1" dirty="0">
                <a:solidFill>
                  <a:srgbClr val="94A3B8"/>
                </a:solidFill>
                <a:latin typeface="Calibri" pitchFamily="34" charset="0"/>
                <a:ea typeface="Calibri" pitchFamily="34" charset="-122"/>
                <a:cs typeface="Calibri" pitchFamily="34" charset="-120"/>
              </a:rPr>
              <a:t>Covers: SAR/STR obligations by entity type · FATF Recommendations · PEP rules · TF vs ML · Sanctions · DNFBPs · VASPs · Gatekeepers</a:t>
            </a:r>
            <a:endParaRPr lang="en-US" sz="1000" dirty="0"/>
          </a:p>
        </p:txBody>
      </p:sp>
      <p:sp>
        <p:nvSpPr>
          <p:cNvPr id="7" name="Text 5"/>
          <p:cNvSpPr/>
          <p:nvPr/>
        </p:nvSpPr>
        <p:spPr>
          <a:xfrm>
            <a:off x="457200" y="4434840"/>
            <a:ext cx="8229600" cy="457200"/>
          </a:xfrm>
          <a:prstGeom prst="rect">
            <a:avLst/>
          </a:prstGeom>
          <a:noFill/>
          <a:ln/>
        </p:spPr>
        <p:txBody>
          <a:bodyPr wrap="square"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Advanced Module — All errors from prior version corrected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9B1C1C"/>
          </a:solidFill>
          <a:ln w="12700">
            <a:solidFill>
              <a:srgbClr val="9B1C1C"/>
            </a:solidFill>
            <a:prstDash val="solid"/>
          </a:ln>
        </p:spPr>
      </p:sp>
      <p:sp>
        <p:nvSpPr>
          <p:cNvPr id="3" name="Text 1"/>
          <p:cNvSpPr/>
          <p:nvPr/>
        </p:nvSpPr>
        <p:spPr>
          <a:xfrm>
            <a:off x="274320" y="45720"/>
            <a:ext cx="8595360" cy="5943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KEY CORRECTIONS FROM PRIOR VERSION</a:t>
            </a:r>
            <a:endParaRPr lang="en-US" sz="1400" dirty="0"/>
          </a:p>
        </p:txBody>
      </p:sp>
      <p:sp>
        <p:nvSpPr>
          <p:cNvPr id="4" name="Shape 2"/>
          <p:cNvSpPr/>
          <p:nvPr/>
        </p:nvSpPr>
        <p:spPr>
          <a:xfrm>
            <a:off x="274320" y="777240"/>
            <a:ext cx="8595360" cy="868680"/>
          </a:xfrm>
          <a:prstGeom prst="roundRect">
            <a:avLst>
              <a:gd name="adj" fmla="val 7368"/>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411480" y="822960"/>
            <a:ext cx="8321040" cy="777240"/>
          </a:xfrm>
          <a:prstGeom prst="rect">
            <a:avLst/>
          </a:prstGeom>
          <a:noFill/>
          <a:ln/>
        </p:spPr>
        <p:txBody>
          <a:bodyPr wrap="square" rtlCol="0" anchor="t"/>
          <a:lstStyle/>
          <a:p>
            <a:pPr indent="0" marL="0">
              <a:buNone/>
            </a:pPr>
            <a:r>
              <a:rPr lang="en-US" sz="900" b="1" dirty="0">
                <a:solidFill>
                  <a:srgbClr val="9B1C1C"/>
                </a:solidFill>
                <a:latin typeface="Calibri" pitchFamily="34" charset="0"/>
                <a:ea typeface="Calibri" pitchFamily="34" charset="-122"/>
                <a:cs typeface="Calibri" pitchFamily="34" charset="-120"/>
              </a:rPr>
              <a:t>SAR/STR Filing — WHO FILES?  </a:t>
            </a:r>
            <a:pPr indent="0" marL="0">
              <a:buNone/>
            </a:pPr>
            <a:r>
              <a:rPr lang="en-US" sz="800" dirty="0">
                <a:solidFill>
                  <a:srgbClr val="334155"/>
                </a:solidFill>
                <a:latin typeface="Calibri" pitchFamily="34" charset="0"/>
                <a:ea typeface="Calibri" pitchFamily="34" charset="-122"/>
                <a:cs typeface="Calibri" pitchFamily="34" charset="-120"/>
              </a:rPr>
              <a:t>SAR (Suspicious Activity Report) in the US is filed ONLY by banks and other defined financial institutions under the Bank Secrecy Act. DNFBPs (lawyers, real estate agents, etc.) generally file STRs (Suspicious Transaction Reports) with their FIU — NOT SARs. VASPs, insurers, MSBs, and casinos file the report required in their jurisdiction. The prior version incorrectly said all entity types 'file SAR.'</a:t>
            </a:r>
            <a:endParaRPr lang="en-US" sz="900" dirty="0"/>
          </a:p>
        </p:txBody>
      </p:sp>
      <p:sp>
        <p:nvSpPr>
          <p:cNvPr id="6" name="Shape 4"/>
          <p:cNvSpPr/>
          <p:nvPr/>
        </p:nvSpPr>
        <p:spPr>
          <a:xfrm>
            <a:off x="274320" y="1691640"/>
            <a:ext cx="8595360" cy="868680"/>
          </a:xfrm>
          <a:prstGeom prst="roundRect">
            <a:avLst>
              <a:gd name="adj" fmla="val 7368"/>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411480" y="1737360"/>
            <a:ext cx="8321040" cy="777240"/>
          </a:xfrm>
          <a:prstGeom prst="rect">
            <a:avLst/>
          </a:prstGeom>
          <a:noFill/>
          <a:ln/>
        </p:spPr>
        <p:txBody>
          <a:bodyPr wrap="square" rtlCol="0" anchor="t"/>
          <a:lstStyle/>
          <a:p>
            <a:pPr indent="0" marL="0">
              <a:buNone/>
            </a:pPr>
            <a:r>
              <a:rPr lang="en-US" sz="900" b="1" dirty="0">
                <a:solidFill>
                  <a:srgbClr val="9B1C1C"/>
                </a:solidFill>
                <a:latin typeface="Calibri" pitchFamily="34" charset="0"/>
                <a:ea typeface="Calibri" pitchFamily="34" charset="-122"/>
                <a:cs typeface="Calibri" pitchFamily="34" charset="-120"/>
              </a:rPr>
              <a:t>FATF Rec 15 vs 16 for VASPs  </a:t>
            </a:r>
            <a:pPr indent="0" marL="0">
              <a:buNone/>
            </a:pPr>
            <a:r>
              <a:rPr lang="en-US" sz="800" dirty="0">
                <a:solidFill>
                  <a:srgbClr val="334155"/>
                </a:solidFill>
                <a:latin typeface="Calibri" pitchFamily="34" charset="0"/>
                <a:ea typeface="Calibri" pitchFamily="34" charset="-122"/>
                <a:cs typeface="Calibri" pitchFamily="34" charset="-120"/>
              </a:rPr>
              <a:t>VASPs are governed under FATF Recommendation 15 (updated 2019 to include virtual assets). The Travel Rule for fund transfers is Recommendation 16. The prior version incorrectly cited 'Rec 16' as the primary VASP standard.</a:t>
            </a:r>
            <a:endParaRPr lang="en-US" sz="900" dirty="0"/>
          </a:p>
        </p:txBody>
      </p:sp>
      <p:sp>
        <p:nvSpPr>
          <p:cNvPr id="8" name="Shape 6"/>
          <p:cNvSpPr/>
          <p:nvPr/>
        </p:nvSpPr>
        <p:spPr>
          <a:xfrm>
            <a:off x="274320" y="2606040"/>
            <a:ext cx="8595360" cy="868680"/>
          </a:xfrm>
          <a:prstGeom prst="roundRect">
            <a:avLst>
              <a:gd name="adj" fmla="val 7368"/>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411480" y="2651760"/>
            <a:ext cx="8321040" cy="777240"/>
          </a:xfrm>
          <a:prstGeom prst="rect">
            <a:avLst/>
          </a:prstGeom>
          <a:noFill/>
          <a:ln/>
        </p:spPr>
        <p:txBody>
          <a:bodyPr wrap="square" rtlCol="0" anchor="t"/>
          <a:lstStyle/>
          <a:p>
            <a:pPr indent="0" marL="0">
              <a:buNone/>
            </a:pPr>
            <a:r>
              <a:rPr lang="en-US" sz="900" b="1" dirty="0">
                <a:solidFill>
                  <a:srgbClr val="9B1C1C"/>
                </a:solidFill>
                <a:latin typeface="Calibri" pitchFamily="34" charset="0"/>
                <a:ea typeface="Calibri" pitchFamily="34" charset="-122"/>
                <a:cs typeface="Calibri" pitchFamily="34" charset="-120"/>
              </a:rPr>
              <a:t>Domestic PEPs — Risk Level  </a:t>
            </a:r>
            <a:pPr indent="0" marL="0">
              <a:buNone/>
            </a:pPr>
            <a:r>
              <a:rPr lang="en-US" sz="800" dirty="0">
                <a:solidFill>
                  <a:srgbClr val="334155"/>
                </a:solidFill>
                <a:latin typeface="Calibri" pitchFamily="34" charset="0"/>
                <a:ea typeface="Calibri" pitchFamily="34" charset="-122"/>
                <a:cs typeface="Calibri" pitchFamily="34" charset="-120"/>
              </a:rPr>
              <a:t>Under FATF Rec 12 (2012/revised), domestic PEPs are NOT automatically 'lower risk' than foreign PEPs. Risk-based EDD applies to ALL PEPs. Domestic PEPs may be lower risk only after a documented risk assessment — they still require EDD. The prior version stated domestic PEPs have 'lower risk' without qualification.</a:t>
            </a:r>
            <a:endParaRPr lang="en-US" sz="900" dirty="0"/>
          </a:p>
        </p:txBody>
      </p:sp>
      <p:sp>
        <p:nvSpPr>
          <p:cNvPr id="10" name="Shape 8"/>
          <p:cNvSpPr/>
          <p:nvPr/>
        </p:nvSpPr>
        <p:spPr>
          <a:xfrm>
            <a:off x="274320" y="3520440"/>
            <a:ext cx="8595360" cy="868680"/>
          </a:xfrm>
          <a:prstGeom prst="roundRect">
            <a:avLst>
              <a:gd name="adj" fmla="val 7368"/>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411480" y="3566160"/>
            <a:ext cx="8321040" cy="777240"/>
          </a:xfrm>
          <a:prstGeom prst="rect">
            <a:avLst/>
          </a:prstGeom>
          <a:noFill/>
          <a:ln/>
        </p:spPr>
        <p:txBody>
          <a:bodyPr wrap="square" rtlCol="0" anchor="t"/>
          <a:lstStyle/>
          <a:p>
            <a:pPr indent="0" marL="0">
              <a:buNone/>
            </a:pPr>
            <a:r>
              <a:rPr lang="en-US" sz="900" b="1" dirty="0">
                <a:solidFill>
                  <a:srgbClr val="9B1C1C"/>
                </a:solidFill>
                <a:latin typeface="Calibri" pitchFamily="34" charset="0"/>
                <a:ea typeface="Calibri" pitchFamily="34" charset="-122"/>
                <a:cs typeface="Calibri" pitchFamily="34" charset="-120"/>
              </a:rPr>
              <a:t>FCPA Facilitation Payments  </a:t>
            </a:r>
            <a:pPr indent="0" marL="0">
              <a:buNone/>
            </a:pPr>
            <a:r>
              <a:rPr lang="en-US" sz="800" dirty="0">
                <a:solidFill>
                  <a:srgbClr val="334155"/>
                </a:solidFill>
                <a:latin typeface="Calibri" pitchFamily="34" charset="0"/>
                <a:ea typeface="Calibri" pitchFamily="34" charset="-122"/>
                <a:cs typeface="Calibri" pitchFamily="34" charset="-120"/>
              </a:rPr>
              <a:t>FCPA still technically permits facilitation payments, but the SEC/DOJ have narrowed this significantly and many companies prohibit them by policy. The prior version oversimplified this as a clear 'allowed' exception.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 of 45  ·  ML Definition &amp; Stages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trainee states: 'Money laundering just means hiding dirty money from authorities.' Which response BEST corrects this understanding?</a:t>
            </a:r>
            <a:endParaRPr lang="en-US" sz="1050" dirty="0"/>
          </a:p>
        </p:txBody>
      </p:sp>
      <p:sp>
        <p:nvSpPr>
          <p:cNvPr id="6" name="Shape 4"/>
          <p:cNvSpPr/>
          <p:nvPr/>
        </p:nvSpPr>
        <p:spPr>
          <a:xfrm>
            <a:off x="228600" y="1536192"/>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A  </a:t>
            </a:r>
            <a:pPr indent="0" marL="0">
              <a:buNone/>
            </a:pPr>
            <a:r>
              <a:rPr lang="en-US" sz="950" b="1" dirty="0">
                <a:solidFill>
                  <a:srgbClr val="334155"/>
                </a:solidFill>
                <a:latin typeface="Calibri" pitchFamily="34" charset="0"/>
                <a:ea typeface="Calibri" pitchFamily="34" charset="-122"/>
                <a:cs typeface="Calibri" pitchFamily="34" charset="-120"/>
              </a:rPr>
              <a:t>Incorrect — hiding is only the placement stage; the goal is integration so funds can be freely used</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Correct — concealment from authorities is the primary objective of money laundering</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Partially correct — hiding is the goal but layering is what makes it criminal</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Incorrect — money laundering is only illegal when the predicate offense is a felony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 of 45  ·  Terrorist Financing vs Money Laundering</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An investigator says: 'This charity diverted legitimate donations to extremists — but since the money was legitimate, it cannot be terrorist financing.' What is the critical error?</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TF requires illegal source funds; legitimate funds cannot constitute TF</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TF is defined by the PURPOSE of funds, not the source — legitimate funds diverted for terrorism IS TF</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The error is that charity fraud, not TF, applies when source funds are legal</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No error — TF requires both illegal source AND illegal destination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 of 45  ·  TF — Amount and Detection</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Which characteristic makes terrorist financing transactions MOST DIFFICULT to detect compared to money laundering?</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TF always uses cryptocurrency, which is untraceable</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TF amounts are often small and below reporting thresholds, with no need to enter the legitimate financial system</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TF is not criminalized in most jurisdictions, limiting detection cooperation</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TF always involves foreign jurisdictions, making domestic detection impossible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Q4 of 45  ·  Sanctions — OFAC 50% Rule</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compliance officer approves a payment to Company X because it is not on the OFAC SDN list. However, Company X is 60% owned by a designated individual. What error has the officer made?</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No error — only directly-listed entities are sanctioned under US law</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The officer failed to apply OFAC's 50% rule: entities 50%+ owned by a designated person are also blocked, even if not themselves listed</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The officer should have applied the EU's 25% beneficial ownership threshold instead</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The error is minor — a blocked transaction report satisfies compliance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Q5 of 45  ·  Sanctions — Strict Liability</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bank processes a sanctioned transaction due to a data entry error, with no intent to evade sanctions. What is the legal position?</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No violation — intent is required for a sanctions breach under OFAC regulations</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Civil violation only — criminal penalties require intent</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Sanctions are strict liability — inadvertent violations can result in civil penalties even without intent</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The bank is protected if it self-reports within 10 business days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Q6 of 45  ·  UK Bribery Act vs FCPA</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UK-incorporated company operating in a country where local law permits facilitation payments makes such a payment. Which statement is MOST ACCURATE?</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The payment is legal because local law permits it and the FCPA allows facilitation payments</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The payment is legal only if it is below the local reporting threshold</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The payment violates the UK Bribery Act 2010, which prohibits facilitation payments regardless of local law and has extraterritorial reach</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The payment is only illegal if made to a foreign government official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Q7 of 45  ·  Tax Evasion vs Tax Avoidance</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client uses offshore trusts and invests in tax havens. The key factor determining whether this is ILLEGAL tax evasion vs. LEGAL tax avoidance is:</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Whether the jurisdiction involved has a tax treaty with the client's home country</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Whether the structures were set up by a licensed attorney</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Whether the client FULLY DISCLOSES all assets, income, and structures to relevant tax authorities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Whether the amount of tax saved exceeds a materiality threshold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Q8 of 45  ·  Synthetic Identity Fraud</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bank sees applications with different names and addresses but the SAME Social Security Number variants (slightly altered). This is BEST classified as:</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Traditional identity theft — the SSN belongs to real victims</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Application fraud using stolen but unaltered identities</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Synthetic identity fraud — new identities manufactured by combining real and fabricated data elements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Structuring — the applications are designed to stay below detection thresholds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Q9 of 45  ·  Predicate Offenses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Under FATF standards, which of the following is NOT included in the list of designated categories of predicate offenses for money laundering?</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Drug trafficking</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Tax evasion (in jurisdictions that criminalize it)</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Jaywalking (minor civil infraction)</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Corruption and bribery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Q10 of 45  ·  Three Stages — Layering</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criminal wires $500K through 15 intermediary accounts in 6 countries before placing it into a real estate investment. Which stage BEST describes the wire transfer activity?</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Placement — because the funds are entering international financial accounts</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Layering — because the transactions are designed to obscure the trail and origin of funds</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Integration — because the funds are moving toward a legitimate asset</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Structuring — because multiple transfers are used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Q11 of 45  ·  SAR Filing — Who Is Required?</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Under the US Bank Secrecy Act (BSA), which entities are REQUIRED to file Suspicious Activity Reports (SARs)?</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All businesses, including retail stores and law firms, whenever they suspect a crime</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Only banks and broker-dealers</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Banks, broker-dealers, money services businesses, mutual funds, insurance companies, and other BSA-defined 'financial institutions' — NOT attorneys or real estate agents who have separate obligations or none under US BSA</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All FATF member state entities universally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Q12 of 45  ·  STR/SAR — DNFBPs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In a FATF-member jurisdiction (outside the US), a lawyer assists with a real estate transaction and identifies suspicious circumstances. What AML obligation does the lawyer have?</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No obligation — lawyer-client privilege fully exempts attorneys from AML reporting</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File a SAR with the US FinCEN if the client is American</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File a Suspicious Transaction Report (STR) with the national FIU, subject to tipping-off restrictions and legal professional privilege carve-outs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Report directly to the client's home country regulators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Q13 of 45  ·  Trade-Based Money Laundering</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An invoice shows 10,000 tons of steel at $500/ton when market price is $250/ton. What ML method does this represent, and what is the primary purpose?</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Under-invoicing — to avoid import duties on the steel shipment</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Over-invoicing — to transfer $2.5M in illicit value from the buyer's jurisdiction to the seller's jurisdiction under the cover of legitimate trade</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Phantom shipment — no goods are actually shipped; the invoice is entirely fictitious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Multiple invoicing — the same shipment is invoiced several times to different buyers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Q14 of 45  ·  Correspondent Banking — FATF Rec 13</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US correspondent bank is reviewing a relationship with a respondent bank in a high-risk jurisdiction with weak AML controls. Under FATF Recommendation 13, what is the US bank's PRIMARY obligation?</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Terminate all correspondent relationships with high-risk jurisdictions immediately</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Conduct enhanced due diligence on the respondent: assess AML controls, understand ownership, determine if the respondent has shell bank clients, and obtain senior approval</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Limit the relationship to USD correspondent services only</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File a SAR covering all transactions for the prior 12 months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Q15 of 45  ·  Shell Banks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FATF Recommendation 13 explicitly prohibits banks from doing what regarding shell banks?</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Offering currency exchange services to shell banks</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Establishing or maintaining correspondent banking relationships with shell banks, or allowing respondent banks to use their accounts to serve shell banks</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Accepting deposits from companies in shell bank jurisdictions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Conducting wire transfers for any entity registered in a tax haven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Q16 of 45  ·  PEP Definition — FATF Rec 12</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Under FATF Recommendation 12, which of the following individuals is classified as a PEP?</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A retired local mayor who left office 10 years ago and has no remaining influence</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A mid-level customs officer with no significant discretionary authority</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The adult child of a current foreign head of state who runs a private business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A senior bank compliance officer in a regulated financial institution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Q17 of 45  ·  Domestic PEPs — Risk Level</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bank is onboarding a domestic PEP (senior government official in the same country). The compliance team argues domestic PEPs are 'lower risk' than foreign PEPs and standard CDD is sufficient. Is this correct?</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Yes — FATF Recommendation 12 explicitly states domestic PEPs present lower risk than foreign PEPs and allows standard CDD</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No — domestic PEPs still require a RISK-BASED assessment and EDD where elevated risk is identified; standard CDD is not automatically sufficient</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Yes — domestic PEPs are not covered under FATF Recommendation 12 at all</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No — domestic PEPs always require the same EDD as foreign PEPs with no risk-based differentiation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Q18 of 45  ·  PEP EDD Requirements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bank is onboarding a foreign PEP with $20M in assets. Under FATF Recommendation 12, which combination of EDD measures is REQUIRED?</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Source of funds verification only — wealth verification is optional</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Senior management approval, source of wealth AND source of funds verification, and enhanced ongoing monitoring</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Standard CDD plus annual review</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Outsource EDD to a third-party screening provider and rely on their certification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Q19 of 45  ·  VASP — FATF Recommendation 15</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Under FATF standards, which Recommendation specifically applies to Virtual Asset Service Providers (VASPs)?</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Recommendation 13 — Correspondent Banking, extended to VASPs</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Recommendation 16 — Wire Transfers (Travel Rule) as the primary VASP standard</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Recommendation 15 — New Technologies, which was updated in 2019 to explicitly include virtual assets and VASPs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Recommendation 22 — DNFBPs, as VASPs are classified as non-bank financial businesses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Q20 of 45  ·  VASP — Travel Rule</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VASP must comply with the FATF Travel Rule. Which information must accompany a virtual asset transfer?</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Only the originator's wallet address — beneficiary information is optional</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Originator's name, account number/wallet address, and physical address/national ID/DOB/customer number; AND beneficiary's name and account number/wallet address</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The hash of the transaction and block confirmation number only</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AML risk score for the wallet, but no personal identifying information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Q21 of 45  ·  Privacy Coins and DeFi</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Why do privacy coins (e.g., Monero, Zcash) present GREATER AML risk than standard cryptocurrencies like Bitcoin?</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Privacy coins are faster, allowing criminals to move more funds in less time</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Privacy coins obfuscate sender, receiver, and transaction amounts using cryptographic techniques (ring signatures, zero-knowledge proofs), making blockchain analysis ineffective</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Privacy coins are not covered under FATF Recommendation 15, creating a regulatory gap</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Privacy coins require more computing power, making them harder to confiscate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Q22 of 45  ·  Structuring / Smurfing</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criminal uses 20 individuals to each deposit $9,500 in cash at different branches of the same bank on the same day. Total deposits: $190,000. Which crime is being committed?</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Money laundering — integration stage only</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Structuring (smurfing) — deliberately breaking up transactions to avoid the $10,000 CTR reporting threshold, which is itself a crime under 31 USC 5324 regardless of whether the underlying funds are illicit</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Tax evasion only — cash deposits are not ML if they are from legitimate sources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Insider trading — using multiple accounts to conceal investment activity</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Q23 of 45  ·  Currency Transaction Reports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US bank customer regularly deposits exactly $9,800 in cash every week, never exceeding $10,000. The bank has NOT filed CTRs but files a SAR. Which statement is MOST accurate?</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This is correct — no CTR is required since no single deposit exceeds $10,000</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This is partially correct — CTRs are required for any single deposit over $10,000. The SAR is appropriate because the $9,800 pattern indicates structuring, which IS a reportable suspicious activity</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The bank should file both CTRs and SARs for every $9,800 deposit</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The bank's only obligation is to freeze the account until an investigation is complete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Q24 of 45  ·  Tipping Off</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bank files a SAR on a customer suspected of ML. The customer's relationship manager then warns the customer that a report has been filed. What has occurred?</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A minor procedural breach — the SAR remains valid but must be refiled</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The tipping-off offense — illegal disclosure of SAR filing to the subject, which carries criminal penalties and can compromise law enforcement investigations</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A legitimate customer service action — customers have a right to know when they are reported</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A breach of GDPR/data privacy only — no AML-specific offense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Q25 of 45  ·  MSB — Who Qualifies?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Under US BSA regulations, which of the following is classified as a Money Services Business (MSB)?</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A commercial bank offering international wire transfers</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A car dealership that accepts cash payments over $10,000</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A check cashing service that processes more than $1,000/person/day in transactions (excluding retail sales)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A licensed attorney who receives client retainer funds</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Q26 of 45  ·  MSB Agent Networks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large US money transmitter has 500 agents across high-risk jurisdictions with no AML oversight of agent activity. What is the PRINCIPAL ML risk?</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Currency exchange rate risk from international transactions</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The principal transmitter's responsibility for its agents: weak agent controls extend the ML risk footprint, and FinCEN holds the principal responsible for AML compliance across its agent network</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Regulatory arbitrage — the agents can operate under less stringent local rules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Reputation risk only — agent failures do not create legal liability for the principal</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Q27 of 45  ·  Life Insurance — AML Red Flags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Which combination of features makes a life insurance policy HIGHEST risk for money laundering?</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A 30-year term life policy with monthly premium payments from a salary account</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A single-premium life insurance policy ($500K+) purchased with cash, where the policyholder requests early surrender or a policy loan immediately after issue</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A group life insurance policy purchased by an employer for 50 employees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A universal life policy with automatic premium waiver</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Q28 of 45  ·  Insurance — CDD Requirements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Under FATF Recommendation 10, when MUST an insurance company identify the BENEFICIARY of a life insurance policy?</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Only at the time of claim — beneficiary identification is not required during onboarding</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Only for policies over $1M</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At the time of PAYOUT (claim or surrender) — but the identity must be collected early enough that the institution can file an STR BEFORE paying out if concerns arise</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Never — beneficiaries have no AML reporting obligations attached to them</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Q29 of 45  ·  Real Estate — ML Risks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foreign shell company purchases a $3M residential property with cash, no mortgage. The beneficial owner is unknown. Which red flag combination is MOST significant?</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The property is residential — commercial real estate is higher risk</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Shell company + cash purchase + no beneficial owner identified + no mortgage (no bank due diligence) = classic real estate ML integration pattern</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The foreign buyer — domestic purchases present no ML risk</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The amount is below significant thresholds, so no reporting is required</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Q30 of 45  ·  Gatekeepers — Lawyers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lawyer helps a client incorporate a company, open bank accounts, and purchase real estate, all while knowing the client's funds derive from drug trafficking. Under what AML principle can the lawyer face criminal liability?</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Lawyers are exempt from ML liability due to attorney-client privilege</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The lawyer can only face civil sanctions, not criminal prosecution</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The lawyer can be criminally prosecuted for money laundering for FACILITATING ML transactions with knowledge of the predicate offense, regardless of professional privilege</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Liability attaches only if the lawyer personally transferred the funds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Q31 of 45  ·  TCSP Risks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Trust and Company Service Provider (TCSP) provides nominee director and shareholder services to clients without verifying the ultimate beneficial owner. What is the PRIMARY ML risk created?</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The TCSP creates currency exchange risk</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Nominee arrangements obscure true beneficial ownership, enabling criminals to control companies while remaining invisible to banks and regulators</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The TCSP is exempt from beneficial ownership requirements as a non-financial intermediary</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The risk is limited to the jurisdiction where the trust is formed</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Q32 of 45  ·  Beneficial Ownership — FATF Standard</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Under FATF Recommendation 24, what is the definition of 'beneficial owner' for a company?</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The registered director of the company</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Any person who has a legal contract with the company</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The natural person(s) who ultimately OWN or CONTROL the legal entity (typically using a 25% ownership threshold, though this varies), and/or any person on whose behalf a transaction is conducted</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The CEO regardless of equity ownership</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Q33 of 45  ·  CDD — Ongoing Monitoring</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bank's CDD team completes onboarding and moves to ongoing monitoring. Which transaction pattern should MOST URGENTLY trigger a review?</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A business account receiving monthly revenue consistent with declared business activity</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A personal account receiving a one-time inheritance payment consistent with prior disclosures</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A business account declared as a small retail shop suddenly receiving $500K in international wire transfers from high-risk jurisdictions, inconsistent with the expected profile</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A personal savings account with monthly direct deposit from the same employer for 3 years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Q34 of 45  ·  Securities Sector ML</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securities firm identifies a customer conducting rapid round-trip trades between accounts — buying and selling the same securities within hours with no net economic gain. What does this pattern indicate?</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High-frequency trading — a legal and common investment strategy</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Wash trading — creating artificial trading volume to generate apparent profits, often to integrate illicit funds or manipulate market prices</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Dollar cost averaging — a conservative investment technique</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Short selling — profiting from declining share prices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Q35 of 45  ·  E-Commerce and PSP Risks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An online marketplace detects a pattern of sellers with low inventory but processing thousands of small transactions, using multiple account names with different payment destinations. What ML technique does this represent?</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Legitimate high-volume retail operations — no concern</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Transaction laundering (merchant fraud) — using fake or front merchant accounts to process payments for illicit goods/services through a legitimate payment processor</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Arbitrage trading — legal profit from price differentials across markets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Chargeback fraud — disputing legitimate transactions</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Q36 of 45  ·  Casino ML Methods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casino high-roller buys $200,000 in chips with cash, gambles minimally, then cashes out $190,000 in a casino check. What ML stage does the $10,000 'loss' represent, and why is the casino check significant?</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Layering — the casino check obscures the origin of the original cash</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Placement followed by integration — cash (illicit) is placed via chip purchase; the casino check is an INTEGRATION mechanism that gives the $190,000 the appearance of gambling winnings (legitimate source)</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Structuring — $10,000 below reporting thresholds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Tax evasion — gambling losses can be deducted on tax returns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Q37 of 45  ·  Free Trade Zones (FTZ)</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Why are Free Trade Zones (FTZs) specifically identified by FATF as HIGH RISK for trade-based money laundering?</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FTZs are only used by sanctioned countries</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FTZs operate outside national legal systems, making trade contracts unenforceable</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FTZs often have REDUCED customs inspection, minimal AML oversight, and relaxed documentation requirements, creating ideal conditions for TBML through over/under-invoicing and misclassification</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FTZs require all transactions to be in a single currency, limiting detection tools</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Q38 of 45  ·  Human Trafficking — Financial Indicators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bank account receives multiple small cash deposits from different locations, followed by rapid wire transfers abroad, with the account holder renting multiple apartments. What financial crime might this indicate?</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Import/export business activity</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Human trafficking proceeds — cash payments from victims, rapid repatriation of proceeds, multiple rental locations consistent with moving/housing victims</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Standard remittance activity by a migrant worker</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Investment in a legitimate real estate portfolio</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Q39 of 45  ·  Proliferation Financing</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How does proliferation financing (PF) differ from terrorist financing (TF), and which FATF Recommendation specifically addresses PF?</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PF and TF are identical — both are covered under FATF Recommendation 5</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PF funds weapons of mass destruction programs; TF funds terrorist acts. PF is primarily addressed through targeted financial sanctions under FATF Recommendation 7, while TF is addressed under Recommendation 5</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PF applies only to nuclear programs; TF covers all other weapons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PF is addressed under Recommendation 15 as a new technology risk</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Q40 of 45  ·  Correspondent Banking — Nested Accounts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What is a 'nested correspondent account' and why is it particularly high risk?</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A correspondent account used only for domestic wire transfers</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An account where a third-party institution (respondent's client) accesses the correspondent bank's services INDIRECTLY through the respondent, without the correspondent knowing the ultimate end-users</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A savings account nested within a checking account for cash management</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A correspondent relationship between two banks in the same jurisdiction</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Q41 of 45  ·  National Risk Assessment</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Under FATF Recommendation 1, what does a National Risk Assessment (NRA) require countries to do?</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Publish a list of all suspected criminals annually</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Assess, understand, and document their ML/TF/PF risks, and use the results to allocate resources and calibrate the strength of AML/CFT measures proportionally</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Outsource risk assessment to international bodies like the FATF secretariat</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Conduct criminal background checks on all financial institution employees</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Q42 of 45  ·  De-Risking vs. Financial Inclusion</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A global bank terminates all correspondent relationships with banks in Sub-Saharan Africa to avoid AML risk. FATF's position on this practice is:</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Supported — terminating high-risk relationships is the gold standard risk management</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Strongly discouraged as 'de-risking' — blanket termination without risk-based analysis is not FATF-compliant and drives legitimate transactions underground, harming financial inclusion</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Neutral — banks have full discretion to terminate any relationship</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Required — FATF mandates exit from high-risk jurisdictions</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Q43 of 45  ·  FATF Mutual Evaluations</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In a FATF Mutual Evaluation, countries are assessed on two dimensions. What are they?</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GDP size and number of financial institutions</a:t>
            </a:r>
            <a:endParaRPr lang="en-US" sz="1000" dirty="0"/>
          </a:p>
        </p:txBody>
      </p:sp>
      <p:sp>
        <p:nvSpPr>
          <p:cNvPr id="8" name="Shape 6"/>
          <p:cNvSpPr/>
          <p:nvPr/>
        </p:nvSpPr>
        <p:spPr>
          <a:xfrm>
            <a:off x="228600" y="2121408"/>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B  </a:t>
            </a:r>
            <a:pPr indent="0" marL="0">
              <a:buNone/>
            </a:pPr>
            <a:r>
              <a:rPr lang="en-US" sz="950" b="1" dirty="0">
                <a:solidFill>
                  <a:srgbClr val="334155"/>
                </a:solidFill>
                <a:latin typeface="Calibri" pitchFamily="34" charset="0"/>
                <a:ea typeface="Calibri" pitchFamily="34" charset="-122"/>
                <a:cs typeface="Calibri" pitchFamily="34" charset="-120"/>
              </a:rPr>
              <a:t>Technical compliance (whether laws/regulations meet FATF standards) AND effectiveness (whether the AML/CFT system achieves expected outcomes in practice)</a:t>
            </a:r>
            <a:endParaRPr lang="en-US" sz="1000" dirty="0"/>
          </a:p>
        </p:txBody>
      </p:sp>
      <p:sp>
        <p:nvSpPr>
          <p:cNvPr id="10" name="Shape 8"/>
          <p:cNvSpPr/>
          <p:nvPr/>
        </p:nvSpPr>
        <p:spPr>
          <a:xfrm>
            <a:off x="228600" y="2706624"/>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C  </a:t>
            </a:r>
            <a:pPr indent="0" marL="0">
              <a:buNone/>
            </a:pPr>
            <a:r>
              <a:rPr lang="en-US" sz="950" dirty="0">
                <a:solidFill>
                  <a:srgbClr val="334155"/>
                </a:solidFill>
                <a:latin typeface="Calibri" pitchFamily="34" charset="0"/>
                <a:ea typeface="Calibri" pitchFamily="34" charset="-122"/>
                <a:cs typeface="Calibri" pitchFamily="34" charset="-120"/>
              </a:rPr>
              <a:t>Number of SARs filed and total fines collected</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Ratification of international treaties and domestic court convictions</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Q44 of 45  ·  Gray List and Black List</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What is the PRACTICAL consequence for a financial institution of a country being placed on the FATF 'Gray List' (Increased Monitoring list)?</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No consequence — the Gray List is informational only</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Automatic asset freeze for all accounts from that country</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Institutions dealing with entities from Gray-listed countries must apply Enhanced Due Diligence per FATF Recommendation 19; correspondent banks may restrict or add scrutiny to transactions</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The institution must terminate all relationships with parties from that country</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1F5F9"/>
        </a:solidFill>
      </p:bgPr>
    </p:bg>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0D1B3E"/>
          </a:solidFill>
          <a:ln w="12700">
            <a:solidFill>
              <a:srgbClr val="0D1B3E"/>
            </a:solidFill>
            <a:prstDash val="solid"/>
          </a:ln>
        </p:spPr>
      </p:sp>
      <p:sp>
        <p:nvSpPr>
          <p:cNvPr id="3" name="Text 1"/>
          <p:cNvSpPr/>
          <p:nvPr/>
        </p:nvSpPr>
        <p:spPr>
          <a:xfrm>
            <a:off x="274320" y="36576"/>
            <a:ext cx="8595360" cy="548640"/>
          </a:xfrm>
          <a:prstGeom prst="rect">
            <a:avLst/>
          </a:prstGeom>
          <a:noFill/>
          <a:ln/>
        </p:spPr>
        <p:txBody>
          <a:bodyPr wrap="square"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Q45 of 45  ·  CDD — Simplified Due Diligence</a:t>
            </a:r>
            <a:endParaRPr lang="en-US" sz="1100" dirty="0"/>
          </a:p>
        </p:txBody>
      </p:sp>
      <p:sp>
        <p:nvSpPr>
          <p:cNvPr id="4" name="Shape 2"/>
          <p:cNvSpPr/>
          <p:nvPr/>
        </p:nvSpPr>
        <p:spPr>
          <a:xfrm>
            <a:off x="228600" y="685800"/>
            <a:ext cx="8686800" cy="777240"/>
          </a:xfrm>
          <a:prstGeom prst="roundRect">
            <a:avLst>
              <a:gd name="adj" fmla="val 7059"/>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365760" y="713232"/>
            <a:ext cx="8412480" cy="722376"/>
          </a:xfrm>
          <a:prstGeom prst="rect">
            <a:avLst/>
          </a:prstGeom>
          <a:noFill/>
          <a:ln/>
        </p:spPr>
        <p:txBody>
          <a:bodyPr wrap="square" rtlCol="0" anchor="ctr"/>
          <a:lstStyle/>
          <a:p>
            <a:pPr indent="0" marL="0">
              <a:buNone/>
            </a:pPr>
            <a:r>
              <a:rPr lang="en-US" sz="1050" b="1" dirty="0">
                <a:solidFill>
                  <a:srgbClr val="0D1B3E"/>
                </a:solidFill>
                <a:latin typeface="Calibri" pitchFamily="34" charset="0"/>
                <a:ea typeface="Calibri" pitchFamily="34" charset="-122"/>
                <a:cs typeface="Calibri" pitchFamily="34" charset="-120"/>
              </a:rPr>
              <a:t>Under FATF Recommendation 10, when is Simplified Due Diligence (SDD) permissible?</a:t>
            </a:r>
            <a:endParaRPr lang="en-US" sz="1050" dirty="0"/>
          </a:p>
        </p:txBody>
      </p:sp>
      <p:sp>
        <p:nvSpPr>
          <p:cNvPr id="6" name="Shape 4"/>
          <p:cNvSpPr/>
          <p:nvPr/>
        </p:nvSpPr>
        <p:spPr>
          <a:xfrm>
            <a:off x="228600" y="1536192"/>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365760" y="1591056"/>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A  </a:t>
            </a:r>
            <a:pPr indent="0" marL="0">
              <a:buNone/>
            </a:pPr>
            <a:r>
              <a:rPr lang="en-US" sz="950" dirty="0">
                <a:solidFill>
                  <a:srgbClr val="334155"/>
                </a:solidFill>
                <a:latin typeface="Calibri" pitchFamily="34" charset="0"/>
                <a:ea typeface="Calibri" pitchFamily="34" charset="-122"/>
                <a:cs typeface="Calibri" pitchFamily="34" charset="-120"/>
              </a:rPr>
              <a:t>Always — SDD is the default for retail customers to reduce compliance costs</a:t>
            </a:r>
            <a:endParaRPr lang="en-US" sz="1000" dirty="0"/>
          </a:p>
        </p:txBody>
      </p:sp>
      <p:sp>
        <p:nvSpPr>
          <p:cNvPr id="8" name="Shape 6"/>
          <p:cNvSpPr/>
          <p:nvPr/>
        </p:nvSpPr>
        <p:spPr>
          <a:xfrm>
            <a:off x="228600" y="2121408"/>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9" name="Text 7"/>
          <p:cNvSpPr/>
          <p:nvPr/>
        </p:nvSpPr>
        <p:spPr>
          <a:xfrm>
            <a:off x="365760" y="2176272"/>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B  </a:t>
            </a:r>
            <a:pPr indent="0" marL="0">
              <a:buNone/>
            </a:pPr>
            <a:r>
              <a:rPr lang="en-US" sz="950" dirty="0">
                <a:solidFill>
                  <a:srgbClr val="334155"/>
                </a:solidFill>
                <a:latin typeface="Calibri" pitchFamily="34" charset="0"/>
                <a:ea typeface="Calibri" pitchFamily="34" charset="-122"/>
                <a:cs typeface="Calibri" pitchFamily="34" charset="-120"/>
              </a:rPr>
              <a:t>Never — FATF requires full CDD for all customers at all times</a:t>
            </a:r>
            <a:endParaRPr lang="en-US" sz="1000" dirty="0"/>
          </a:p>
        </p:txBody>
      </p:sp>
      <p:sp>
        <p:nvSpPr>
          <p:cNvPr id="10" name="Shape 8"/>
          <p:cNvSpPr/>
          <p:nvPr/>
        </p:nvSpPr>
        <p:spPr>
          <a:xfrm>
            <a:off x="228600" y="2706624"/>
            <a:ext cx="8686800" cy="530352"/>
          </a:xfrm>
          <a:prstGeom prst="roundRect">
            <a:avLst>
              <a:gd name="adj" fmla="val 8621"/>
            </a:avLst>
          </a:prstGeom>
          <a:solidFill>
            <a:srgbClr val="DCFCE7"/>
          </a:solidFill>
          <a:ln w="12700">
            <a:solidFill>
              <a:srgbClr val="16A34A"/>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365760" y="2761488"/>
            <a:ext cx="8412480" cy="420624"/>
          </a:xfrm>
          <a:prstGeom prst="rect">
            <a:avLst/>
          </a:prstGeom>
          <a:noFill/>
          <a:ln/>
        </p:spPr>
        <p:txBody>
          <a:bodyPr wrap="square" rtlCol="0" anchor="ctr"/>
          <a:lstStyle/>
          <a:p>
            <a:pPr indent="0" marL="0">
              <a:buNone/>
            </a:pPr>
            <a:r>
              <a:rPr lang="en-US" sz="1000" b="1" dirty="0">
                <a:solidFill>
                  <a:srgbClr val="15803D"/>
                </a:solidFill>
                <a:latin typeface="Calibri" pitchFamily="34" charset="0"/>
                <a:ea typeface="Calibri" pitchFamily="34" charset="-122"/>
                <a:cs typeface="Calibri" pitchFamily="34" charset="-120"/>
              </a:rPr>
              <a:t>C  </a:t>
            </a:r>
            <a:pPr indent="0" marL="0">
              <a:buNone/>
            </a:pPr>
            <a:r>
              <a:rPr lang="en-US" sz="950" b="1" dirty="0">
                <a:solidFill>
                  <a:srgbClr val="334155"/>
                </a:solidFill>
                <a:latin typeface="Calibri" pitchFamily="34" charset="0"/>
                <a:ea typeface="Calibri" pitchFamily="34" charset="-122"/>
                <a:cs typeface="Calibri" pitchFamily="34" charset="-120"/>
              </a:rPr>
              <a:t>Only when the country's NRA, institutional risk assessment, and specific customer/product/transaction analysis demonstrate that the risk of ML/TF is LOW — SDD must still collect core identity information, just with reduced frequency or depth</a:t>
            </a:r>
            <a:endParaRPr lang="en-US" sz="1000" dirty="0"/>
          </a:p>
        </p:txBody>
      </p:sp>
      <p:sp>
        <p:nvSpPr>
          <p:cNvPr id="12" name="Shape 10"/>
          <p:cNvSpPr/>
          <p:nvPr/>
        </p:nvSpPr>
        <p:spPr>
          <a:xfrm>
            <a:off x="228600" y="3291840"/>
            <a:ext cx="8686800" cy="530352"/>
          </a:xfrm>
          <a:prstGeom prst="roundRect">
            <a:avLst>
              <a:gd name="adj" fmla="val 8621"/>
            </a:avLst>
          </a:prstGeom>
          <a:solidFill>
            <a:srgbClr val="FFFFFF"/>
          </a:solidFill>
          <a:ln w="12700">
            <a:solidFill>
              <a:srgbClr val="CBD5E1"/>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365760" y="3346704"/>
            <a:ext cx="8412480" cy="420624"/>
          </a:xfrm>
          <a:prstGeom prst="rect">
            <a:avLst/>
          </a:prstGeom>
          <a:noFill/>
          <a:ln/>
        </p:spPr>
        <p:txBody>
          <a:bodyPr wrap="square" rtlCol="0" anchor="ctr"/>
          <a:lstStyle/>
          <a:p>
            <a:pPr indent="0" marL="0">
              <a:buNone/>
            </a:pPr>
            <a:r>
              <a:rPr lang="en-US" sz="1000" b="1" dirty="0">
                <a:solidFill>
                  <a:srgbClr val="1E40AF"/>
                </a:solidFill>
                <a:latin typeface="Calibri" pitchFamily="34" charset="0"/>
                <a:ea typeface="Calibri" pitchFamily="34" charset="-122"/>
                <a:cs typeface="Calibri" pitchFamily="34" charset="-120"/>
              </a:rPr>
              <a:t>D  </a:t>
            </a:r>
            <a:pPr indent="0" marL="0">
              <a:buNone/>
            </a:pPr>
            <a:r>
              <a:rPr lang="en-US" sz="950" dirty="0">
                <a:solidFill>
                  <a:srgbClr val="334155"/>
                </a:solidFill>
                <a:latin typeface="Calibri" pitchFamily="34" charset="0"/>
                <a:ea typeface="Calibri" pitchFamily="34" charset="-122"/>
                <a:cs typeface="Calibri" pitchFamily="34" charset="-120"/>
              </a:rPr>
              <a:t>Only for government entity customers and listed public companies in all jurisdictions</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 EXPLANATION  ·  ML Definition &amp; Stages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A — Incorrect — hiding is only the placement stage; the goal is integration so funds can be freely used</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ML has three stages: Placement (entering the financial system), Layering (obscuring origin via complex transactions), and Integration (returning 'cleaned' funds to the legitimate economy). The ultimate goal is INTEGRATION — making funds usable without suspicion. Concealment alone is insufficient; funds must be legitimized to be spent. FATF defines ML as 'processing criminal proceeds to disguise their illegal origin.' The trainee confuses hiding (placement) with the full ML cycle.</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Hiding alone ≠ money laundering. Without integration, funds remain unusable.</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1/45</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 EXPLANATION  ·  Terrorist Financing vs Money Laundering</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TF is defined by the PURPOSE of funds, not the source — legitimate funds diverted for terrorism IS TF</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This is the most-tested TF distinction on CAMS. Unlike ML where proceeds are ALWAYS illicit, TF can involve entirely legitimate funds (salaries, charity donations, savings) provided the INTENT is to support terrorism. FATF Recommendation 5 criminalizes TF regardless of source legality. Key comparison: ML focuses on WHERE money CAME FROM; TF focuses on WHERE money IS GOING. The investigator confused source of funds (irrelevant for TF) with purpose/destination (determinative for TF).</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TF funds can be 100% legitimate. Destination and intent, not source, are determinative.</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2/45</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 EXPLANATION  ·  TF — Amount and Detection</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TF amounts are often small and below reporting thresholds, with no need to enter the legitimate financial system</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TF transactions are often small (below CTR/STR reporting thresholds), may involve entirely normal financial products, and the funds do NOT need to be 'cleaned' — they only need to reach the recipient. There is no integration stage requirement. A terrorist may receive a small salary, keep funds in a normal bank account, and transfer small sums. ML by contrast involves large illicit amounts requiring disguise. This makes TF behaviorally indistinguishable from normal transactions, defeating threshold-based detection.</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TF ≠ large amounts. Small, legitimate-appearing transactions are the hallmark detection challenge.</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3/45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Q4 EXPLANATION  ·  Sanctions — OFAC 50% Rule</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The officer failed to apply OFAC's 50% rule: entities 50%+ owned by a designated person are also blocked, even if not themselves listed</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OFAC's '50% rule' (2014 guidance, reinforced 2019) states that any entity OWNED 50% or more by a designated person or blocked entity is itself blocked, regardless of whether it appears on the SDN list. Aggregate ownership across multiple designated persons also counts (e.g., two designated individuals each owning 30% = 60% combined = entity is blocked). This is strict liability — no intent required. The officer's error is failing to look through the corporate structure to beneficial ownership. The payment must be blocked and an OFAC report filed.</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SDN list screening alone is insufficient. You must trace ownership to apply the 50% rule.</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4/45</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Q5 EXPLANATION  ·  Sanctions — Strict Liability</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Sanctions are strict liability — inadvertent violations can result in civil penalties even without intent</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Sanctions regimes (OFAC in the US, OFSI in the UK, EU regimes) are STRICT LIABILITY — intent is NOT required for a civil violation. A bank can face civil penalties for inadvertent screening failures, data errors, or system gaps. Criminal prosecution does typically require intent, but civil fines can be substantial even for honest mistakes. Self-reporting mitigates but does not eliminate penalties. This distinguishes sanctions from most criminal statutes where mens rea (intent) is required.</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Civil sanctions violations = strict liability. 'We didn't know' is NOT a defense to civil penalties.</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5/45</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Q6 EXPLANATION  ·  UK Bribery Act vs FCPA</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The payment violates the UK Bribery Act 2010, which prohibits facilitation payments regardless of local law and has extraterritorial reach</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The UK Bribery Act 2010 is stricter than the US FCPA: (1) it explicitly PROHIBITS facilitation payments (no exception exists), (2) it has full extraterritorial reach — applies to UK companies and persons anywhere in the world, (3) it includes a corporate offense of 'failure to prevent bribery' unless the company has adequate procedures. The FCPA does have a limited facilitation payment exception for routine government actions, but many companies ban them by policy. A UK company cannot use local law or FCPA standards to justify facilitation payments.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UK Bribery Act = ZERO facilitation payment tolerance. FCPA exception does NOT apply to UK entities.</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6/45</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Q7 EXPLANATION  ·  Tax Evasion vs Tax Avoidance</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Whether the client FULLY DISCLOSES all assets, income, and structures to relevant tax authorities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Tax evasion = ILLEGAL concealment or misrepresentation of taxable income/assets. Tax avoidance = LEGAL use of legitimate structures to reduce tax burden. The CRITICAL distinction is DISCLOSURE and TRUTHFULNESS. The same offshore trust can be legal (avoidance) if fully disclosed to authorities, or illegal (evasion) if concealed. FATCA (US) and the Common Reporting Standard (CRS, 100+ countries) require automatic exchange of offshore account information precisely to enforce this. Tax evasion is a predicate offense for ML in most FATF member jurisdictions.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Offshore structures alone ≠ evasion. Concealment from tax authorities is the line.</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7/45</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Q8 EXPLANATION  ·  Synthetic Identity Fraud</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Synthetic identity fraud — new identities manufactured by combining real and fabricated data elements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Synthetic identity fraud creates MANUFACTURED identities by combining real elements (often a real SSN, sometimes a real name) with fabricated information (fake addresses, DOBs, phone numbers). It differs from traditional identity theft (which uses a COMPLETE stolen identity of a real, identified person). Key detection signals: same SSN variant appearing with multiple name/address combinations; no consistent credit history; rapid account opening followed by cash-out. Synthetic identity fraud is harder to detect and harder for victims to identify (the 'victim' may be a real SSN holder who doesn't know it's being misused).</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Synthetic fraud ≠ identity theft. No single real victim — a new identity is CREATED.</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8/45</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Q9 EXPLANATION  ·  Predicate Offenses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Jaywalking (minor civil infraction)</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designates 21 categories of predicate offenses (from the FATF Recommendations Glossary), including: drug trafficking, corruption/bribery, fraud, counterfeiting, smuggling, human trafficking, tax crimes, arms trafficking, environmental crime, cybercrime, and more. These are SERIOUS crimes. Minor civil infractions (jaywalking, parking violations) are NOT predicate offenses. FATF Recommendation 3 requires countries to criminalize ML for 'all serious offenses.' The scope of predicates matters because ML can only occur if the underlying funds derive from a criminal offense.</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Not ALL crimes are predicates — focus on FATF's 21 designated serious offense categories.</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9/45</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Q10 EXPLANATION  ·  Three Stages — Layering</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Layering — because the transactions are designed to obscure the trail and origin of funds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Layering is the second stage of ML, characterized by complex, multi-step transactions designed to CREATE DISTANCE between illicit funds and their criminal origin, making the audit trail difficult to follow. Multiple accounts, multiple jurisdictions, shell companies, and rapid wire transfers are hallmark layering techniques. Placement is the INITIAL introduction of illicit cash into the financial system. Integration is the FINAL stage where 'cleaned' funds re-enter the legitimate economy as apparently lawful assets (here, that's the real estate purchase at the end). The 15-account wire chain is textbook layering.</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Multiple transfers ≠ structuring. Structuring is specifically about breaking up amounts to avoid CTR thresholds.</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10/45</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Q11 EXPLANATION  ·  SAR Filing — Who Is Required?</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Banks, broker-dealers, money services businesses, mutual funds, insurance companies, and other BSA-defined 'financial institutions' — NOT attorneys or real estate agents who have separate obligations or none under US BSA</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CRITICAL CAMS FACT: In the US, SAR filing is a BSA obligation for DEFINED FINANCIAL INSTITUTIONS: depository institutions (banks, credit unions), broker-dealers, mutual funds, futures commission merchants, MSBs, insurance companies, loan/finance companies, and casinos. US attorneys and real estate agents do NOT have BSA SAR obligations (unlike in the EU/UK). In other jurisdictions: the UK uses 'Suspicious Activity Reports' (confusingly same name) filed with the NCA; EU uses STRs filed with national FIUs. DNFBPs in most FATF jurisdictions file Suspicious Transaction Reports (STRs) — terminology varies. The exam tests whether you know that 'SAR' is US/BSA-specific and entity-specific.</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SAR = US BSA term for defined FIs. Lawyers/real estate agents in the US do NOT file SARs under BSA.</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11/45</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Q12 EXPLANATION  ·  STR/SAR — DNFBPs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File a Suspicious Transaction Report (STR) with the national FIU, subject to tipping-off restrictions and legal professional privilege carve-outs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Under FATF Recommendation 23, DNFBPs (including lawyers when they perform certain activities — real estate transactions, company formation, managing client funds) are required to file STRs with the national FIU when they suspect ML/TF. Key nuances: (1) 'Tipping-off' restriction — the lawyer CANNOT warn the client a report has been filed; (2) Legal professional privilege (LPP) carve-outs exist for confidential communications in the course of legal advice (varies by jurisdiction); (3) The report goes to the national FIU, NOT FinCEN. Many jurisdictions apply a 'designated activity' model — only certain legal activities trigger reporting. The lawyer cannot claim blanket privilege to avoid STR filing.</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Lawyers DO have STR obligations in most jurisdictions for DESIGNATED ACTIVITIES. Privilege has limits.</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12/45</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Q13 EXPLANATION  ·  Trade-Based Money Laundering</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Over-invoicing — to transfer $2.5M in illicit value from the buyer's jurisdiction to the seller's jurisdiction under the cover of legitimate trade</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Trade-Based Money Laundering (TBML) uses international trade transactions to transfer illicit value. OVER-INVOICING: buyer pays more than goods are worth → excess value moves from buyer country to seller country. UNDER-INVOICING: buyer pays less than goods are worth → value effectively moves from seller country to buyer country (buyer receives goods worth more than paid). Here: $500 invoice vs. $250 market rate → $250/ton × 10,000 tons = $2.5M in illicit value transferred to the seller. FATF typologies identify TBML methods: over/under-invoicing, over/under-shipment, misclassification, phantom shipments, and multiple invoicing. TBML is extremely difficult to detect without trade finance expertise.</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Over-invoicing moves value TO the seller. Under-invoicing moves value TO the buyer.</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13/45</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Q14 EXPLANATION  ·  Correspondent Banking — FATF Rec 13</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Conduct enhanced due diligence on the respondent: assess AML controls, understand ownership, determine if the respondent has shell bank clients, and obtain senior approval</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13 (Correspondent Banking) requires: (1) Gather information about the respondent institution's business, reputation, and quality of AML supervision; (2) Assess the respondent's AML/CFT controls; (3) Obtain senior management approval before establishing the relationship; (4) Document respective AML responsibilities; (5) Satisfy itself the respondent does not permit SHELL BANKS to use its accounts; (6) Apply EDD, not just standard CDD. Outright termination ('de-risking') is NOT FATF's preferred approach — FATF explicitly discourages blanket de-risking. The bank must manage the risk, not reflexively exit. Payable-through accounts require extra scrutiny.</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FATF opposes blanket de-risking. Correspondent banking requires EDD + management, not automatic termination.</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14/45</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Q15 EXPLANATION  ·  Shell Banks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Establishing or maintaining correspondent banking relationships with shell banks, or allowing respondent banks to use their accounts to serve shell banks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13 explicitly prohibits: (1) Financial institutions from establishing correspondent relationships with SHELL BANKS (banks with no physical presence in any country and not affiliated with a regulated financial group); (2) Taking measures to ensure respondent banks do not permit shell banks to use their accounts (passing-through principle). A shell bank has no physical presence, no meaningful management in its country of incorporation, and is not subject to effective supervision. They were used extensively for ML/TF. This is an ABSOLUTE prohibition, not risk-based — no amount of EDD makes a shell bank relationship acceptable.</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Shell bank prohibition is ABSOLUTE — no risk-based exception exists.</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15/45</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Q16 EXPLANATION  ·  PEP Definition — FATF Rec 12</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The adult child of a current foreign head of state who runs a private business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12 defines PEPs as individuals entrusted with PROMINENT PUBLIC FUNCTIONS (heads of state/government, senior politicians, senior government/judicial/military officials, senior executives of state-owned enterprises, senior officials of international organizations) AND their FAMILY MEMBERS AND CLOSE ASSOCIATES. The adult child of a current foreign head of state is a PEP (family member category). The retired local mayor: 'local' officials are generally below the threshold, AND the 12-month+ decommissioning period may apply. Mid-level officials without significant authority are typically not PEPs. Bank compliance officers are not PEPs. Close associates include persons with joint beneficial ownership or close business/personal relationships.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PEP family members and close associates are ALSO PEPs. The definition extends beyond the official themselves.</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16/45</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Q17 EXPLANATION  ·  Domestic PEPs — Risk Level</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No — domestic PEPs still require a RISK-BASED assessment and EDD where elevated risk is identified; standard CDD is not automatically sufficient</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This is a nuanced point that the prior version got wrong. FATF Recommendation 12 states that for DOMESTIC PEPs and PEPs in international organizations, countries may allow a risk-based approach — meaning institutions may apply EDD only when the risk assessment indicates elevated risk (not automatically for all domestic PEPs). However: (1) EDD is still required whenever risk is assessed as elevated; (2) Institutions CANNOT simply say 'domestic = standard CDD' without conducting the risk assessment; (3) In practice, most compliance programs apply EDD to all PEPs regardless of origin due to audit and regulatory scrutiny. The error in the prior version was stating domestic PEPs present 'lower risk' as a fact rather than as a risk-based finding.</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Domestic PEPs need RISK ASSESSMENT first — not automatic standard CDD. If risk is elevated, EDD is required.</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17/45</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Q18 EXPLANATION  ·  PEP EDD Requirements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Senior management approval, source of wealth AND source of funds verification, and enhanced ongoing monitoring</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12 requires for PEPs: (1) Senior management APPROVAL to establish or continue the relationship; (2) Reasonable measures to establish SOURCE OF WEALTH and SOURCE OF FUNDS (both — not just one); (3) ENHANCED ONGOING MONITORING. These are mandatory, not optional. Distinctions: Source of Funds = where the specific funds in this transaction came from; Source of Wealth = how the person accumulated their overall wealth (career, inheritance, business ownership, etc.). For a $20M PEP, both are required. Third-party EDD can supplement but cannot replace the institution's own EDD obligations — the institution remains responsible.</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Source of Wealth AND Source of Funds are BOTH required for PEP EDD — not interchangeable.</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18/45</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Q19 EXPLANATION  ·  VASP — FATF Recommendation 15</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Recommendation 15 — New Technologies, which was updated in 2019 to explicitly include virtual assets and VASPs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15 covers 'New Technologies' and was updated in October 2018/June 2019 to explicitly require that VASPs be subject to AML/CFT regulation, supervision, and monitoring. The 2021 FATF updated guidance on virtual assets and VASPs further elaborated this. Recommendation 16 (the 'Travel Rule') ALSO applies to VASPs for virtual asset transfers — requiring originator and beneficiary information to accompany transfers — but this is secondary to Rec 15 as the FOUNDATIONAL framework. The prior version incorrectly cited Rec 16 as the primary VASP recommendation. The correct answer: VASPs fall under Rec 15 (framework) AND Rec 16 (Travel Rule for transfers).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Primary VASP framework = Rec 15. Travel Rule for VA transfers = Rec 16. Both apply, but Rec 15 is foundational.</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19/45</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Q20 EXPLANATION  ·  VASP — Travel Rule</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Originator's name, account number/wallet address, and physical address/national ID/DOB/customer number; AND beneficiary's name and account number/wallet address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16 (Travel Rule), extended to VASPs in 2019, requires that when VASPs conduct virtual asset transfers of $1,000 USD/EUR or above, they must transmit: ORIGINATOR: full name, account number (wallet address), AND at least one of: physical address, national identity number, customer ID, or DOB/place of birth; BENEFICIARY: name and account number (wallet address). This mirrors wire transfer requirements for traditional finance. The 'sunrise problem' (not all jurisdictions have implemented yet) is a known implementation challenge. Privacy coins and non-custodial wallets make compliance difficult. The Travel Rule applies to VASP-to-VASP transfers; peer-to-peer (unhosted wallet) transfers are a regulatory gap.</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Both originator AND beneficiary information required. Wallet address alone is insufficient.</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20/45</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Q21 EXPLANATION  ·  Privacy Coins and DeFi</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Privacy coins obfuscate sender, receiver, and transaction amounts using cryptographic techniques (ring signatures, zero-knowledge proofs), making blockchain analysis ineffective</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Standard cryptocurrencies like Bitcoin use a transparent blockchain — all transactions are publicly visible, only pseudonymous (wallet address, not name). Blockchain analytics firms (Chainalysis, Elliptic) can often trace Bitcoin transactions. Privacy coins use advanced cryptography to hide transaction details: MONERO uses ring signatures (mixes transactions), stealth addresses (one-time recipient addresses), and RingCT (hides amounts) — making it near-impossible to trace. ZCASH uses zero-knowledge proofs (zk-SNARKs). This is why major exchanges have delisted privacy coins in some jurisdictions and why the FATF and FinCEN identify them as high-risk. Some exchanges refuse to accept deposits from privacy coin mixers/tumblers.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Bitcoin is pseudonymous, NOT anonymous. Privacy coins add strong cryptographic anonymity — fundamentally different.</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21/45</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Q22 EXPLANATION  ·  Structuring / Smurfing</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Structuring (smurfing) — deliberately breaking up transactions to avoid the $10,000 CTR reporting threshold, which is itself a crime under 31 USC 5324 regardless of whether the underlying funds are illicit</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Structuring (also called 'smurfing') is the ILLEGAL act of deliberately breaking up cash transactions to keep them BELOW a reporting threshold (in the US, the $10,000 Currency Transaction Report threshold). CRITICAL CAMS POINT: Structuring is a crime in itself under 31 USC 5324 even if the underlying funds are ENTIRELY LEGITIMATE. You do not need to prove the money is from crime to prove structuring. Banks must file SARs when they detect structuring patterns — even if the customer claims the cash is from legal sources. Using multiple people (smurfs) to make deposits is a hallmark pattern. The bank should: (1) File a SAR, (2) NOT alert the customer (no tipping off), (3) Continue monitoring.</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Structuring is illegal EVEN WITH CLEAN MONEY. The crime is avoiding the reporting requirement.</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22/45</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Q23 EXPLANATION  ·  Currency Transaction Reports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This is partially correct — CTRs are required for any single deposit over $10,000. The SAR is appropriate because the $9,800 pattern indicates structuring, which IS a reportable suspicious activity</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CTRs (Currency Transaction Reports) in the US are required for SINGLE transactions over $10,000 in cash. If no individual transaction exceeds $10,000, no CTR is legally required — but the PATTERN is the issue. A weekly $9,800 deposit pattern is textbook structuring — clearly designed to stay below the $10,000 threshold. The bank is REQUIRED to file a SAR because it has reason to suspect structuring (31 USC 5318(g)). The SAR filing is correct. The bank should NOT tip off the customer. Additionally, FinCEN's 'aggregation' guidance requires looking at related transactions, but CTRs are per-transaction. The SAR documents the suspicious pattern even when individual CTRs aren't triggered.</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CTRs = triggered by single transactions over $10K. SARs = triggered by suspicious PATTERNS regardless of amount.</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23/45</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Q24 EXPLANATION  ·  Tipping Off</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The tipping-off offense — illegal disclosure of SAR filing to the subject, which carries criminal penalties and can compromise law enforcement investigations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TIPPING OFF is a criminal offense in virtually all FATF member jurisdictions. Once a SAR/STR has been filed, the reporting institution and its staff are PROHIBITED from disclosing to the subject (or to third parties who might inform the subject) that: (1) A SAR/STR has been filed, OR (2) An ML/TF investigation is being conducted. This protects the integrity of law enforcement investigations and prevents asset dissipation or flight. The bank employee can face criminal prosecution. The SAR itself is protected from disclosure (SAR secrecy rules in the US under 31 USC 5318(g)(2)). Exception: institutions within the same financial group may share SAR-related information in certain jurisdictions for group-level AML purposes.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Tipping off = criminal offense for staff. SAR secrecy is absolute toward the subject of the report.</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24/45</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Q25 EXPLANATION  ·  MSB — Who Qualifies?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A check cashing service that processes more than $1,000/person/day in transactions (excluding retail sales)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US FinCEN defines MSBs as including: currency dealers/exchangers, check cashers (&gt;$1,000/person/day), issuers of traveler's checks/money orders, sellers/redeemers of traveler's checks/money orders, money transmitters, US Postal Service, and prepaid access providers. The threshold for check cashers is $1,000 per person per day. Commercial banks are regulated under different provisions (not MSB rules, though many MSB obligations parallel bank BSA requirements). Car dealers accepting large cash payments have separate Form 8300 requirements (IRS). Attorneys with client funds have separate obligations. MSBs must register with FinCEN, implement an AML program, file SARs and CTRs, and have independent compliance testing.</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MSB registration threshold = $1,000/person/day for check cashers. Banks are NOT MSBs.</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25/45</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Q26 EXPLANATION  ·  MSB Agent Networks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The principal transmitter's responsibility for its agents: weak agent controls extend the ML risk footprint, and FinCEN holds the principal responsible for AML compliance across its agent network</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Under US BSA rules, a PRINCIPAL money transmitter is responsible for the AML compliance of its AGENTS. FinCEN's agent rules (31 CFR 1022.380) require: (1) The principal registers; agents do NOT separately register if covered under the principal's registration; (2) The principal must maintain a list of agents; (3) The principal's AML program must cover agent activity. If an agent facilitates ML, the PRINCIPAL can face regulatory action. Weak agent oversight in high-risk jurisdictions is a critical AML vulnerability. The ML risk is that unmonitored agents become channels for illicit cash placement (Western Union enforcement actions are the classic example — $586M settlement in 2017).</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Principal MSBs ARE RESPONSIBLE for their agents' AML compliance. Agent liability = principal liability.</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26/45</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Q27 EXPLANATION  ·  Life Insurance — AML Red Flags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A single-premium life insurance policy ($500K+) purchased with cash, where the policyholder requests early surrender or a policy loan immediately after issue</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Life insurance ML risk factors: HIGHEST RISK combination: (1) SINGLE LARGE PREMIUM (lump sum payment = placement); (2) CASH PAYMENT (avoids bank scrutiny); (3) EARLY SURRENDER OR POLICY LOAN (immediately after issue = integration — getting 'clean' insurance company proceeds back); (4) Third-party payor (someone else pays the premium). This pattern converts illicit cash → insurance premium payment → insurance company surrender check (now appears as legitimate financial product payout). Under FATF Recommendations (and FATF 2018 guidance on insurance), insurers must apply CDD to policyholder AND beneficiary. Early surrender, third-party payments, and requests for cash payouts are all red flags requiring EDD and potentially STR/SAR filing.</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Life insurance red flags: single large premium + early surrender = classic ML placement/integration cycle.</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27/45</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Q28 EXPLANATION  ·  Insurance — CDD Requirements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At the time of PAYOUT (claim or surrender) — but the identity must be collected early enough that the institution can file an STR BEFORE paying out if concerns arise</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10 and its Interpretive Note on Life Insurance: CDD for beneficiaries must occur 'no later than the time of payout.' However, to enable effective STR reporting, institutions should collect beneficiary information early enough that if the beneficiary is a sanctioned person or ML suspect, the institution can FILE AN STR BEFORE making payment (filing after an irreversible payout is far less useful). Key triggers for enhanced scrutiny: beneficiary is different from policyholder, beneficiary is in a high-risk jurisdiction, policy is surrendered early, payout is to a third party. Beneficial ownership (who ultimately benefits from a legal entity beneficiary) must also be identified.</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Know beneficiary early enough to file STR BEFORE payout — not after funds are irreversibly transferred.</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28/45</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Q29 EXPLANATION  ·  Real Estate — ML Risks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Shell company + cash purchase + no beneficial owner identified + no mortgage (no bank due diligence) = classic real estate ML integration pattern</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Real estate is a preferred ML INTEGRATION vehicle. The highest-risk combination: (1) SHELL COMPANY — conceals beneficial owner; (2) ALL-CASH PURCHASE — bypasses bank mortgage CDD/KYC; (3) NO IDENTIFIED BENEFICIAL OWNER — critical AML gap; (4) FOREIGN BUYER — potential for cross-border ML. When a bank provides a mortgage, their KYC processes add an AML layer. Cash purchases bypass this. The US FinCEN Geographic Targeting Orders (GTOs) require title insurance companies to identify beneficial owners of shell companies in high-risk metro areas (NYC, Miami, etc.) for cash real estate purchases. Real estate agents and attorneys involved in real estate transactions are DNFBPs with STR obligations in many jurisdictions.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Cash purchase = no bank KYC. Shell company + cash = highest risk combination for real estate ML.</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29/45</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Q30 EXPLANATION  ·  Gatekeepers — Lawyers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The lawyer can be criminally prosecuted for money laundering for FACILITATING ML transactions with knowledge of the predicate offense, regardless of professional privilege</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Attorney-client privilege protects CONFIDENTIAL COMMUNICATIONS for legal advice — it does NOT protect a lawyer from criminal prosecution for PARTICIPATING in or FACILITATING financial crime. When a lawyer: incorporates companies, opens accounts, or moves funds KNOWING the money is criminal, they can be charged as a co-conspirator in ML. FATF Recommendation 23 designates lawyers as DNFBPs and requires STR filing when they 'assist' clients in suspicious transactions. The principle of 'gatekeepers' recognizes that professionals with access to the financial system have special responsibilities. UK: Proceeds of Crime Act 2002 makes it an offense to 'arrange' or 'facilitate' ML transactions. US: 18 USC 1956 prosecutes those who knowingly engage in ML transactions.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Legal privilege does NOT immunize lawyers who participate in ML transactions with knowledge.</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30/45</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Q31 EXPLANATION  ·  TCSP Risks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Nominee arrangements obscure true beneficial ownership, enabling criminals to control companies while remaining invisible to banks and regulators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TCSPs (under FATF Recommendations 22/23 and DNFBP framework) are high-risk because they enable the LAYERING technique of ownership concealment. Nominee directors/shareholders appear in public records in place of the true beneficial owner. Under FATF Recommendation 24 (Beneficial Ownership of Legal Persons) and Recommendation 25 (Beneficial Ownership of Legal Arrangements), countries must maintain accurate, current beneficial ownership information. TCSPs must apply CDD to identify the TRUE beneficial owner — not just the nominee arrangement client. The FATF Guidance on TCSPs (2017) requires TCSPs to: identify the natural person who ultimately controls/benefits; apply EDD to higher-risk arrangements; file STRs for suspicious structures; maintain records.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Nominees obscure beneficial ownership. TCSPs must look THROUGH nominees to identify the true owner.</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31/45</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Q32 EXPLANATION  ·  Beneficial Ownership — FATF Standard</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The natural person(s) who ultimately OWN or CONTROL the legal entity (typically using a 25% ownership threshold, though this varies), and/or any person on whose behalf a transaction is conducted</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24 defines beneficial owner as the natural person who ultimately OWNS or CONTROLS a legal entity. Key elements: (1) NATURAL PERSON — not a company or trust — you look through all layers until you find a human being; (2) ULTIMATE — through all layers of ownership, regardless of complexity; (3) CONTROL — can be through ownership, voting rights, or other means (directorships, power of attorney); (4) THRESHOLD — FATF suggests 25% but this is a starting point, not a safe harbor; if no natural person meets the threshold or control is exercised otherwise, the senior managing official serves as a fallback. EU 4th AMLD used 25%; US CDD Rule uses 25% for ownership but also requires one control-person. Threshold is NOT automatically exculpatory.</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25% threshold is a STARTING POINT, not a safe harbor. Control by other means still triggers beneficial owner identification.</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32/45</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Q33 EXPLANATION  ·  CDD — Ongoing Monitoring</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A business account declared as a small retail shop suddenly receiving $500K in international wire transfers from high-risk jurisdictions, inconsistent with the expected profile</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Ongoing monitoring requires comparing ACTUAL TRANSACTION ACTIVITY against the EXPECTED PROFILE established during onboarding (CDD/KYC). The highest alert trigger: transactions that are INCONSISTENT WITH THE CUSTOMER'S DECLARED BUSINESS/PURPOSE. A 'small retail shop' generating $500K in international wires is a stark anomaly. This is the basis of transaction monitoring systems — define expected behavior, flag outliers. Required actions: (1) Review and update CDD; (2) Investigate the source; (3) Conduct EDD; (4) File SAR if suspicious after investigation. FATF Recommendation 10 requires ongoing monitoring as a core CDD element — it is not a one-time onboarding exercise.</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Ongoing monitoring = comparing actual activity to EXPECTED profile. Significant deviations require investigation.</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33/45</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Q34 EXPLANATION  ·  Securities Sector ML</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Wash trading — creating artificial trading volume to generate apparent profits, often to integrate illicit funds or manipulate market prices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WASH TRADING: executing buy and sell orders for the same security between related accounts to create the APPEARANCE of trading activity without genuine market risk or economic purpose. In ML context: (1) Illicit funds enter as investment capital; (2) Round-trip trades generate 'trading profit' documentation; (3) Proceeds are withdrawn as 'investment returns' — legitimized. The ML purpose is INTEGRATION — creating a legitimate-appearing paper trail for illicit funds. Wash trading is also MARKET MANIPULATION, a separate offense (market abuse). Securities firms must file both SARs (for the ML component) and market abuse reports (for the manipulation component). Post-trade surveillance systems flag zero-sum round-trip trades as suspicious.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Round-trips with no economic gain = wash trading. Both ML (integration) AND market manipulation.</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34/45</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Q35 EXPLANATION  ·  E-Commerce and PSP Risks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Transaction laundering (merchant fraud) — using fake or front merchant accounts to process payments for illicit goods/services through a legitimate payment processor</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TRANSACTION LAUNDERING (also called 'undisclosed aggregation' or 'factoring'): illicit actors use legitimate merchant accounts (or create fake ones) to process payments for illegal goods/services through a legitimate payment processor, making the proceeds appear as e-commerce revenue. The ML pattern: illicit goods sold online → payment processed as 'merchandise' through legitimate PSP → proceeds appear as legitimate merchant income. Red flags: (1) Seller has minimal real inventory but high transaction volume; (2) Multiple accounts with inconsistent beneficiaries; (3) Refund rates, chargeback patterns inconsistent with legitimate retail. PSPs must conduct MERCHANT ONBOARDING due diligence and monitor for these patterns. FATF has issued guidance on ML through the real economy including e-commerce.</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Transaction laundering = illicit proceeds hidden as e-commerce revenue. Merchant accounts used as front.</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35/45</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Q36 EXPLANATION  ·  Casino ML Methods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Placement followed by integration — cash (illicit) is placed via chip purchase; the casino check is an INTEGRATION mechanism that gives the $190,000 the appearance of gambling winnings (legitimate source)</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This is a CLASSIC casino ML technique. MECHANICS: (1) PLACEMENT — criminal exchanges illicit CASH for casino chips (no longer 'dirty cash' — now chips); (2) Minimal gambling (the $10,000 'loss' is the 'laundering fee' — cost of the service); (3) INTEGRATION — casino cashes out the remaining $190,000 as a CASINO CHECK with a 'gambling winnings' paper trail. The casino check appears as legitimate winnings. The criminal can now explain the $190,000 as gambling income. Casinos ARE subject to CTR reporting (Currency Transaction Report) and SAR filing under the BSA. The $200,000 chip purchase should trigger a CTR (over $10,000 cash). The pattern also requires a SAR for the suspicious 'minimal play, full cashout' behavior. Casinos are covered under FATF Recommendation 22 as DNFBPs.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Casino check = integration tool. The 'loss' is the ML service fee. CTR required for $200K cash chip buy.</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36/45</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Q37 EXPLANATION  ·  Free Trade Zones (FTZ)</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FTZs often have REDUCED customs inspection, minimal AML oversight, and relaxed documentation requirements, creating ideal conditions for TBML through over/under-invoicing and misclassification</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identified FTZs as high-risk in their TBML typologies (2006, 2020 updates) due to: (1) REDUCED INSPECTION — goods may move with minimal customs scrutiny; (2) DOCUMENTATION GAPS — paperwork requirements relaxed to encourage trade; (3) MINIMAL AML OVERSIGHT — FTZ operators may not be subject to standard AML regulations; (4) MULTIPLE COMPANY LAYERING — multiple shell companies can transact within the FTZ with limited transparency; (5) CASH FLOW OPACITY — the mismatch between trade documentation and actual value is harder to detect. Classic TBML in FTZs: invoice a $10 widget as $1,000, ship through FTZ with minimal inspection, move $990 in illicit value. Dubai, Panama's Colón Zone, and Caribbean FTZs have historically featured in FATF typologies.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FTZ risk = reduced inspection + minimal AML oversight + documentation gaps. Not extraterritorial status.</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37/45</a:t>
            </a:r>
            <a:endParaRPr lang="en-US" sz="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Q38 EXPLANATION  ·  Human Trafficking — Financial Indicators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Human trafficking proceeds — cash payments from victims, rapid repatriation of proceeds, multiple rental locations consistent with moving/housing victims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Human trafficking is one of FATF's designated predicate offenses and generates specific financial patterns. Red flags include: (1) MULTIPLE SMALL CASH DEPOSITS from various locations (victim payments); (2) RAPID WIRE TRANSFERS ABROAD (sending proceeds to traffickers/home country); (3) MULTIPLE RENTAL PAYMENTS (controlling multiple locations for victims); (4) Third-party payments for accommodation; (5) Cash-intensive spending on transportation, utilities, food in bulk (supporting victim operations). Banks and FIUs use these typologies to detect trafficking. FATF issued guidance on 'Financial Flows from Human Trafficking' (2018). Key training: financial institutions are often the ONLY point of institutional contact with trafficking victims.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Multiple rentals + small cash from many locations + rapid overseas wire = human trafficking red flag constellation.</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38/45</a:t>
            </a:r>
            <a:endParaRPr lang="en-US" sz="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Q39 EXPLANATION  ·  Proliferation Financing</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PF funds weapons of mass destruction programs; TF funds terrorist acts. PF is primarily addressed through targeted financial sanctions under FATF Recommendation 7, while TF is addressed under Recommendation 5</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PROLIFERATION FINANCING (PF) = financing the development or acquisition of weapons of mass destruction (WMD) — nuclear, biological, chemical, radiological. TERRORIST FINANCING (TF) = providing funds for terrorist ACTS. They are distinct offenses. Key FATF framework: FATF Recommendation 7 requires countries to implement targeted financial sanctions related to proliferation as required by UN Security Council Resolutions (particularly against Iran/DPRK programs). FATF revised its recommendations in 2012 and further in 2020-2021 to add PF risk assessment requirements. The 2020 'Guidance on Proliferation Financing Risk Assessment and Mitigation' is significant. Unlike TF (which can involve small amounts), PF often involves larger transactions for dual-use goods.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PF ≠ TF. PF = WMD financing → FATF Rec 7 (targeted sanctions). TF = terrorist acts → FATF Rec 5.</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39/45</a:t>
            </a:r>
            <a:endParaRPr lang="en-US" sz="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Q40 EXPLANATION  ·  Correspondent Banking — Nested Accounts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An account where a third-party institution (respondent's client) accesses the correspondent bank's services INDIRECTLY through the respondent, without the correspondent knowing the ultimate end-users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A NESTED (or 'embedded') correspondent account occurs when a RESPONDENT BANK allows its own clients (other banks or financial institutions) to conduct transactions through the respondent's correspondent account with the US bank, effectively extending the US correspondent's services to unknown third parties. The problem: the correspondent bank has done CDD on the respondent, but has NO VISIBILITY into the respondent's clients who are actually using the correspondent services. This creates a 'black box' — illicit actors can access the US financial system through two layers of banking without direct correspondent due diligence. FinCEN guidance and FATF Rec 13 address nested relationships. They require correspondent banks to understand and document the extent to which respondents provide nested services.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Nested accounts = correspondent's services reach UNKNOWN end-users the correspondent never screened.</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40/45</a:t>
            </a:r>
            <a:endParaRPr lang="en-US" sz="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Q41 EXPLANATION  ·  National Risk Assessment</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Assess, understand, and document their ML/TF/PF risks, and use the results to allocate resources and calibrate the strength of AML/CFT measures proportionally</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1 (Risk-Based Approach and National Risk Assessment) requires countries to: (1) IDENTIFY and ASSESS ML/TF/PF risks at the national level; (2) DESIGNATE an authority responsible for the NRA (e.g., Treasury, FIU); (3) COORDINATE across agencies; (4) Use the NRA to: calibrate AML/CFT measures, allocate supervisory resources, identify priorities; (5) UPDATE the NRA periodically. The NRA feeds into the institutional risk assessment, which in turn feeds into customer risk assessment. The NRA is the TOP of the risk hierarchy. Financial institutions must be aware of their country's NRA to understand the baseline risk environment and calibrate their own programs. FATF assesses NRA quality during mutual evaluations.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NRA is the FOUNDATION of the risk-based approach — not just a compliance exercise. It drives resource allocation.</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41/45</a:t>
            </a:r>
            <a:endParaRPr lang="en-US" sz="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Q42 EXPLANATION  ·  De-Risking vs. Financial Inclusion</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Strongly discouraged as 'de-risking' — blanket termination without risk-based analysis is not FATF-compliant and drives legitimate transactions underground, harming financial inclusion</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has explicitly and repeatedly stated that BLANKET DE-RISKING (terminating all relationships with a category of customer or country) is NOT consistent with FATF's risk-based approach. FATF's position (2014, 2015 guidance; reaffirmed multiple times): (1) Risk-based approach requires ASSESSING and MANAGING risk, not avoiding all risk; (2) Blanket termination is NOT compliant with FATF Rec 13; (3) De-risking forces remittances underground (informal value transfer systems, hawala), which INCREASES ML/TF risk; (4) Harms financial inclusion for legitimate customers. Instead, correspondent banks should apply EDD, impose transaction limits, monitor actively, and terminate only when specific risks cannot be managed. The World Bank and FSB have co-published with FATF on this issue.</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De-risking = NOT compliant with FATF. Risk management ≠ risk avoidance.</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42/45</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Q43 EXPLANATION  ·  FATF Mutual Evaluations</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B — Technical compliance (whether laws/regulations meet FATF standards) AND effectiveness (whether the AML/CFT system achieves expected outcomes in practice)</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FATF's 4th Round Mutual Evaluations (2013 onwards, using the 2012 FATF Recommendations) assess countries on TWO DIMENSIONS: (1) TECHNICAL COMPLIANCE — does the country have laws, regulations, and procedures that technically meet FATF's 40 Recommendations? (Rated C/LC/PC/NC); (2) EFFECTIVENESS — is the system working in practice? Are the expected outcomes being achieved? (11 Immediate Outcomes, rated HE/SE/ME/LE). A country can have perfect laws (high technical compliance) but poor effectiveness (laws not enforced, courts don't convict, FIU doesn't analyze). The 4th Round innovation was separating these two assessments, recognizing that paper compliance ≠ real-world effectiveness. Countries with low effectiveness ratings face enhanced follow-up and potential blacklisting.</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Two dimensions: technical compliance (laws on paper) AND effectiveness (outcomes in practice). Both required.</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43/45</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Q44 EXPLANATION  ·  Gray List and Black List</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Institutions dealing with entities from Gray-listed countries must apply Enhanced Due Diligence per FATF Recommendation 19; correspondent banks may restrict or add scrutiny to transactions</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19: When FATF calls for enhanced due diligence for 'higher risk countries' (the FATF 'Increased Monitoring' / Gray List), countries must require their financial institutions to apply EDD when dealing with persons or entities from those jurisdictions. Practically: (1) EDD on customers from Gray-listed countries; (2) Enhanced scrutiny of wire transfers and trade finance; (3) Correspondent banks may add additional screening or require more documentation; (4) Some respondent banks from Gray-listed countries find the cost of compliance rising; (5) Banks may exit relationships (de-risking concern). The 'Black List' (High-Risk Jurisdictions / Call for Action — e.g., Iran, DPRK) triggers even stronger countermeasures per Recommendation 19, up to requiring institutions to refuse transactions.</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Gray List = EDD required per Rec 19. Black List = countermeasures, potentially refusing transactions.</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44/45</a:t>
            </a:r>
            <a:endParaRPr lang="en-US" sz="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9B1C1C"/>
          </a:solidFill>
          <a:ln w="12700">
            <a:solidFill>
              <a:srgbClr val="9B1C1C"/>
            </a:solidFill>
            <a:prstDash val="solid"/>
          </a:ln>
        </p:spPr>
      </p:sp>
      <p:sp>
        <p:nvSpPr>
          <p:cNvPr id="3" name="Text 1"/>
          <p:cNvSpPr/>
          <p:nvPr/>
        </p:nvSpPr>
        <p:spPr>
          <a:xfrm>
            <a:off x="274320" y="45720"/>
            <a:ext cx="8595360" cy="47548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Q45 EXPLANATION  ·  CDD — Simplified Due Diligence</a:t>
            </a:r>
            <a:endParaRPr lang="en-US" sz="1100" dirty="0"/>
          </a:p>
        </p:txBody>
      </p:sp>
      <p:sp>
        <p:nvSpPr>
          <p:cNvPr id="4" name="Shape 2"/>
          <p:cNvSpPr/>
          <p:nvPr/>
        </p:nvSpPr>
        <p:spPr>
          <a:xfrm>
            <a:off x="228600" y="640080"/>
            <a:ext cx="8686800" cy="475488"/>
          </a:xfrm>
          <a:prstGeom prst="roundRect">
            <a:avLst>
              <a:gd name="adj" fmla="val 9615"/>
            </a:avLst>
          </a:prstGeom>
          <a:solidFill>
            <a:srgbClr val="14532D"/>
          </a:solidFill>
          <a:ln w="12700">
            <a:solidFill>
              <a:srgbClr val="16A34A"/>
            </a:solidFill>
            <a:prstDash val="solid"/>
          </a:ln>
        </p:spPr>
      </p:sp>
      <p:sp>
        <p:nvSpPr>
          <p:cNvPr id="5" name="Text 3"/>
          <p:cNvSpPr/>
          <p:nvPr/>
        </p:nvSpPr>
        <p:spPr>
          <a:xfrm>
            <a:off x="365760" y="667512"/>
            <a:ext cx="8412480" cy="420624"/>
          </a:xfrm>
          <a:prstGeom prst="rect">
            <a:avLst/>
          </a:prstGeom>
          <a:noFill/>
          <a:ln/>
        </p:spPr>
        <p:txBody>
          <a:bodyPr wrap="square" rtlCol="0" anchor="ctr"/>
          <a:lstStyle/>
          <a:p>
            <a:pPr indent="0" marL="0">
              <a:buNone/>
            </a:pPr>
            <a:r>
              <a:rPr lang="en-US" sz="950" b="1" dirty="0">
                <a:solidFill>
                  <a:srgbClr val="4ADE80"/>
                </a:solidFill>
                <a:latin typeface="Calibri" pitchFamily="34" charset="0"/>
                <a:ea typeface="Calibri" pitchFamily="34" charset="-122"/>
                <a:cs typeface="Calibri" pitchFamily="34" charset="-120"/>
              </a:rPr>
              <a:t>✓  CORRECT ANSWER: C — Only when the country's NRA, institutional risk assessment, and specific customer/product/transaction analysis demonstrate that the risk of ML/TF is LOW — SDD must still collect core identity information, just with reduced frequency or depth</a:t>
            </a:r>
            <a:endParaRPr lang="en-US" sz="950" dirty="0"/>
          </a:p>
        </p:txBody>
      </p:sp>
      <p:sp>
        <p:nvSpPr>
          <p:cNvPr id="6" name="Shape 4"/>
          <p:cNvSpPr/>
          <p:nvPr/>
        </p:nvSpPr>
        <p:spPr>
          <a:xfrm>
            <a:off x="228600" y="1188720"/>
            <a:ext cx="8686800" cy="2331720"/>
          </a:xfrm>
          <a:prstGeom prst="roundRect">
            <a:avLst>
              <a:gd name="adj" fmla="val 2353"/>
            </a:avLst>
          </a:prstGeom>
          <a:solidFill>
            <a:srgbClr val="1E293B"/>
          </a:solidFill>
          <a:ln w="12700">
            <a:solidFill>
              <a:srgbClr val="334155"/>
            </a:solidFill>
            <a:prstDash val="solid"/>
          </a:ln>
        </p:spPr>
      </p:sp>
      <p:sp>
        <p:nvSpPr>
          <p:cNvPr id="7" name="Text 5"/>
          <p:cNvSpPr/>
          <p:nvPr/>
        </p:nvSpPr>
        <p:spPr>
          <a:xfrm>
            <a:off x="365760" y="1234440"/>
            <a:ext cx="8412480" cy="2240280"/>
          </a:xfrm>
          <a:prstGeom prst="rect">
            <a:avLst/>
          </a:prstGeom>
          <a:noFill/>
          <a:ln/>
        </p:spPr>
        <p:txBody>
          <a:bodyPr wrap="square" rtlCol="0" anchor="t"/>
          <a:lstStyle/>
          <a:p>
            <a:pPr indent="0" marL="0">
              <a:buNone/>
            </a:pPr>
            <a:r>
              <a:rPr lang="en-US" sz="900" dirty="0">
                <a:solidFill>
                  <a:srgbClr val="E2E8F0"/>
                </a:solidFill>
                <a:latin typeface="Calibri" pitchFamily="34" charset="0"/>
                <a:ea typeface="Calibri" pitchFamily="34" charset="-122"/>
                <a:cs typeface="Calibri" pitchFamily="34" charset="-120"/>
              </a:rPr>
              <a:t>FATF Recommendation 10 and its Interpretive Note permit SDD when: (1) The overall risk is assessed as LOW (not just perceived as low); (2) The NRA and institutional risk assessment support the low-risk determination; (3) SPECIFIC customer/product/channel factors indicate lower risk (e.g., life insurance with low premiums, electronic money products with low limits, public authorities/government entities, listed companies on major exchanges with disclosure requirements). SDD does NOT mean zero CDD — core identification is still required. It means PROPORTIONATE CDD, with less frequent updating, reduced documentation, or streamlined verification. Institutions CANNOT apply SDD if there are any suspicious indicators — suspicion overrides SDD automatically.</a:t>
            </a:r>
            <a:endParaRPr lang="en-US" sz="900" dirty="0"/>
          </a:p>
        </p:txBody>
      </p:sp>
      <p:sp>
        <p:nvSpPr>
          <p:cNvPr id="8" name="Shape 6"/>
          <p:cNvSpPr/>
          <p:nvPr/>
        </p:nvSpPr>
        <p:spPr>
          <a:xfrm>
            <a:off x="228600" y="3593592"/>
            <a:ext cx="8686800" cy="566928"/>
          </a:xfrm>
          <a:prstGeom prst="roundRect">
            <a:avLst>
              <a:gd name="adj" fmla="val 8065"/>
            </a:avLst>
          </a:prstGeom>
          <a:solidFill>
            <a:srgbClr val="451A03"/>
          </a:solidFill>
          <a:ln w="12700">
            <a:solidFill>
              <a:srgbClr val="B8860B"/>
            </a:solidFill>
            <a:prstDash val="solid"/>
          </a:ln>
        </p:spPr>
      </p:sp>
      <p:sp>
        <p:nvSpPr>
          <p:cNvPr id="9" name="Text 7"/>
          <p:cNvSpPr/>
          <p:nvPr/>
        </p:nvSpPr>
        <p:spPr>
          <a:xfrm>
            <a:off x="365760" y="3630168"/>
            <a:ext cx="8412480" cy="493776"/>
          </a:xfrm>
          <a:prstGeom prst="rect">
            <a:avLst/>
          </a:prstGeom>
          <a:noFill/>
          <a:ln/>
        </p:spPr>
        <p:txBody>
          <a:bodyPr wrap="square"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 EXAM TRAP:  </a:t>
            </a:r>
            <a:pPr indent="0" marL="0">
              <a:buNone/>
            </a:pPr>
            <a:r>
              <a:rPr lang="en-US" sz="900" dirty="0">
                <a:solidFill>
                  <a:srgbClr val="FDE68A"/>
                </a:solidFill>
                <a:latin typeface="Calibri" pitchFamily="34" charset="0"/>
                <a:ea typeface="Calibri" pitchFamily="34" charset="-122"/>
                <a:cs typeface="Calibri" pitchFamily="34" charset="-120"/>
              </a:rPr>
              <a:t>SDD ≠ no CDD. Still requires core identity verification — just proportionately LESS than standard CDD.</a:t>
            </a:r>
            <a:endParaRPr lang="en-US" sz="950" dirty="0"/>
          </a:p>
        </p:txBody>
      </p:sp>
      <p:sp>
        <p:nvSpPr>
          <p:cNvPr id="10" name="Text 8"/>
          <p:cNvSpPr/>
          <p:nvPr/>
        </p:nvSpPr>
        <p:spPr>
          <a:xfrm>
            <a:off x="8046720" y="4251960"/>
            <a:ext cx="914400" cy="365760"/>
          </a:xfrm>
          <a:prstGeom prst="rect">
            <a:avLst/>
          </a:prstGeom>
          <a:noFill/>
          <a:ln/>
        </p:spPr>
        <p:txBody>
          <a:bodyPr wrap="square" rtlCol="0" anchor="ctr"/>
          <a:lstStyle/>
          <a:p>
            <a:pPr algn="r" indent="0" marL="0">
              <a:buNone/>
            </a:pPr>
            <a:r>
              <a:rPr lang="en-US" sz="800" dirty="0">
                <a:solidFill>
                  <a:srgbClr val="475569"/>
                </a:solidFill>
                <a:latin typeface="Calibri" pitchFamily="34" charset="0"/>
                <a:ea typeface="Calibri" pitchFamily="34" charset="-122"/>
                <a:cs typeface="Calibri" pitchFamily="34" charset="-120"/>
              </a:rPr>
              <a:t>45/45</a:t>
            </a:r>
            <a:endParaRPr lang="en-US" sz="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9B1C1C"/>
          </a:solidFill>
          <a:ln w="12700">
            <a:solidFill>
              <a:srgbClr val="9B1C1C"/>
            </a:solidFill>
            <a:prstDash val="solid"/>
          </a:ln>
        </p:spPr>
      </p:sp>
      <p:sp>
        <p:nvSpPr>
          <p:cNvPr id="3" name="Text 1"/>
          <p:cNvSpPr/>
          <p:nvPr/>
        </p:nvSpPr>
        <p:spPr>
          <a:xfrm>
            <a:off x="274320" y="73152"/>
            <a:ext cx="8595360" cy="5029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CAMS DOMAIN A — KEY RULES TO MEMORIZE</a:t>
            </a:r>
            <a:endParaRPr lang="en-US" sz="1400" dirty="0"/>
          </a:p>
        </p:txBody>
      </p:sp>
      <p:sp>
        <p:nvSpPr>
          <p:cNvPr id="4" name="Shape 2"/>
          <p:cNvSpPr/>
          <p:nvPr/>
        </p:nvSpPr>
        <p:spPr>
          <a:xfrm>
            <a:off x="182880" y="713232"/>
            <a:ext cx="8778240" cy="475488"/>
          </a:xfrm>
          <a:prstGeom prst="roundRect">
            <a:avLst>
              <a:gd name="adj" fmla="val 7692"/>
            </a:avLst>
          </a:prstGeom>
          <a:solidFill>
            <a:srgbClr val="1E293B"/>
          </a:solidFill>
          <a:ln w="12700">
            <a:solidFill>
              <a:srgbClr val="334155"/>
            </a:solidFill>
            <a:prstDash val="solid"/>
          </a:ln>
        </p:spPr>
      </p:sp>
      <p:sp>
        <p:nvSpPr>
          <p:cNvPr id="5" name="Text 3"/>
          <p:cNvSpPr/>
          <p:nvPr/>
        </p:nvSpPr>
        <p:spPr>
          <a:xfrm>
            <a:off x="320040" y="758952"/>
            <a:ext cx="8503920" cy="393192"/>
          </a:xfrm>
          <a:prstGeom prst="rect">
            <a:avLst/>
          </a:prstGeom>
          <a:noFill/>
          <a:ln/>
        </p:spPr>
        <p:txBody>
          <a:bodyPr wrap="square"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SAR vs STR  </a:t>
            </a:r>
            <a:pPr indent="0" marL="0">
              <a:buNone/>
            </a:pPr>
            <a:r>
              <a:rPr lang="en-US" sz="850" dirty="0">
                <a:solidFill>
                  <a:srgbClr val="CBD5E1"/>
                </a:solidFill>
                <a:latin typeface="Calibri" pitchFamily="34" charset="0"/>
                <a:ea typeface="Calibri" pitchFamily="34" charset="-122"/>
                <a:cs typeface="Calibri" pitchFamily="34" charset="-120"/>
              </a:rPr>
              <a:t>US BSA: Banks/FIs file SARs with FinCEN. DNFBPs (lawyers, real estate) generally have NO US SAR obligation. Other jurisdictions: DNFBPs file STRs with national FIU.</a:t>
            </a:r>
            <a:endParaRPr lang="en-US" sz="900" dirty="0"/>
          </a:p>
        </p:txBody>
      </p:sp>
      <p:sp>
        <p:nvSpPr>
          <p:cNvPr id="6" name="Shape 4"/>
          <p:cNvSpPr/>
          <p:nvPr/>
        </p:nvSpPr>
        <p:spPr>
          <a:xfrm>
            <a:off x="182880" y="1216152"/>
            <a:ext cx="8778240" cy="475488"/>
          </a:xfrm>
          <a:prstGeom prst="roundRect">
            <a:avLst>
              <a:gd name="adj" fmla="val 7692"/>
            </a:avLst>
          </a:prstGeom>
          <a:solidFill>
            <a:srgbClr val="1E293B"/>
          </a:solidFill>
          <a:ln w="12700">
            <a:solidFill>
              <a:srgbClr val="334155"/>
            </a:solidFill>
            <a:prstDash val="solid"/>
          </a:ln>
        </p:spPr>
      </p:sp>
      <p:sp>
        <p:nvSpPr>
          <p:cNvPr id="7" name="Text 5"/>
          <p:cNvSpPr/>
          <p:nvPr/>
        </p:nvSpPr>
        <p:spPr>
          <a:xfrm>
            <a:off x="320040" y="1261872"/>
            <a:ext cx="8503920" cy="393192"/>
          </a:xfrm>
          <a:prstGeom prst="rect">
            <a:avLst/>
          </a:prstGeom>
          <a:noFill/>
          <a:ln/>
        </p:spPr>
        <p:txBody>
          <a:bodyPr wrap="square"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TF vs ML  </a:t>
            </a:r>
            <a:pPr indent="0" marL="0">
              <a:buNone/>
            </a:pPr>
            <a:r>
              <a:rPr lang="en-US" sz="850" dirty="0">
                <a:solidFill>
                  <a:srgbClr val="CBD5E1"/>
                </a:solidFill>
                <a:latin typeface="Calibri" pitchFamily="34" charset="0"/>
                <a:ea typeface="Calibri" pitchFamily="34" charset="-122"/>
                <a:cs typeface="Calibri" pitchFamily="34" charset="-120"/>
              </a:rPr>
              <a:t>TF = funds can be LEGITIMATE; intent/destination is key. ML = funds ALWAYS illicit; disguising origin is key.</a:t>
            </a:r>
            <a:endParaRPr lang="en-US" sz="900" dirty="0"/>
          </a:p>
        </p:txBody>
      </p:sp>
      <p:sp>
        <p:nvSpPr>
          <p:cNvPr id="8" name="Shape 6"/>
          <p:cNvSpPr/>
          <p:nvPr/>
        </p:nvSpPr>
        <p:spPr>
          <a:xfrm>
            <a:off x="182880" y="1719072"/>
            <a:ext cx="8778240" cy="475488"/>
          </a:xfrm>
          <a:prstGeom prst="roundRect">
            <a:avLst>
              <a:gd name="adj" fmla="val 7692"/>
            </a:avLst>
          </a:prstGeom>
          <a:solidFill>
            <a:srgbClr val="1E293B"/>
          </a:solidFill>
          <a:ln w="12700">
            <a:solidFill>
              <a:srgbClr val="334155"/>
            </a:solidFill>
            <a:prstDash val="solid"/>
          </a:ln>
        </p:spPr>
      </p:sp>
      <p:sp>
        <p:nvSpPr>
          <p:cNvPr id="9" name="Text 7"/>
          <p:cNvSpPr/>
          <p:nvPr/>
        </p:nvSpPr>
        <p:spPr>
          <a:xfrm>
            <a:off x="320040" y="1764792"/>
            <a:ext cx="8503920" cy="393192"/>
          </a:xfrm>
          <a:prstGeom prst="rect">
            <a:avLst/>
          </a:prstGeom>
          <a:noFill/>
          <a:ln/>
        </p:spPr>
        <p:txBody>
          <a:bodyPr wrap="square"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Sanctions  </a:t>
            </a:r>
            <a:pPr indent="0" marL="0">
              <a:buNone/>
            </a:pPr>
            <a:r>
              <a:rPr lang="en-US" sz="850" dirty="0">
                <a:solidFill>
                  <a:srgbClr val="CBD5E1"/>
                </a:solidFill>
                <a:latin typeface="Calibri" pitchFamily="34" charset="0"/>
                <a:ea typeface="Calibri" pitchFamily="34" charset="-122"/>
                <a:cs typeface="Calibri" pitchFamily="34" charset="-120"/>
              </a:rPr>
              <a:t>STRICT LIABILITY — no intent required for civil violations. OFAC 50% Rule: own 50%+ = blocked entity even if not listed.</a:t>
            </a:r>
            <a:endParaRPr lang="en-US" sz="900" dirty="0"/>
          </a:p>
        </p:txBody>
      </p:sp>
      <p:sp>
        <p:nvSpPr>
          <p:cNvPr id="10" name="Shape 8"/>
          <p:cNvSpPr/>
          <p:nvPr/>
        </p:nvSpPr>
        <p:spPr>
          <a:xfrm>
            <a:off x="182880" y="2221992"/>
            <a:ext cx="8778240" cy="475488"/>
          </a:xfrm>
          <a:prstGeom prst="roundRect">
            <a:avLst>
              <a:gd name="adj" fmla="val 7692"/>
            </a:avLst>
          </a:prstGeom>
          <a:solidFill>
            <a:srgbClr val="1E293B"/>
          </a:solidFill>
          <a:ln w="12700">
            <a:solidFill>
              <a:srgbClr val="334155"/>
            </a:solidFill>
            <a:prstDash val="solid"/>
          </a:ln>
        </p:spPr>
      </p:sp>
      <p:sp>
        <p:nvSpPr>
          <p:cNvPr id="11" name="Text 9"/>
          <p:cNvSpPr/>
          <p:nvPr/>
        </p:nvSpPr>
        <p:spPr>
          <a:xfrm>
            <a:off x="320040" y="2267712"/>
            <a:ext cx="8503920" cy="393192"/>
          </a:xfrm>
          <a:prstGeom prst="rect">
            <a:avLst/>
          </a:prstGeom>
          <a:noFill/>
          <a:ln/>
        </p:spPr>
        <p:txBody>
          <a:bodyPr wrap="square"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PEPs  </a:t>
            </a:r>
            <a:pPr indent="0" marL="0">
              <a:buNone/>
            </a:pPr>
            <a:r>
              <a:rPr lang="en-US" sz="850" dirty="0">
                <a:solidFill>
                  <a:srgbClr val="CBD5E1"/>
                </a:solidFill>
                <a:latin typeface="Calibri" pitchFamily="34" charset="0"/>
                <a:ea typeface="Calibri" pitchFamily="34" charset="-122"/>
                <a:cs typeface="Calibri" pitchFamily="34" charset="-120"/>
              </a:rPr>
              <a:t>Foreign PEPs: EDD mandatory. Domestic PEPs: risk-based assessment required; EDD if elevated risk found. Family/associates: also PEPs.</a:t>
            </a:r>
            <a:endParaRPr lang="en-US" sz="900" dirty="0"/>
          </a:p>
        </p:txBody>
      </p:sp>
      <p:sp>
        <p:nvSpPr>
          <p:cNvPr id="12" name="Shape 10"/>
          <p:cNvSpPr/>
          <p:nvPr/>
        </p:nvSpPr>
        <p:spPr>
          <a:xfrm>
            <a:off x="182880" y="2724912"/>
            <a:ext cx="8778240" cy="475488"/>
          </a:xfrm>
          <a:prstGeom prst="roundRect">
            <a:avLst>
              <a:gd name="adj" fmla="val 7692"/>
            </a:avLst>
          </a:prstGeom>
          <a:solidFill>
            <a:srgbClr val="1E293B"/>
          </a:solidFill>
          <a:ln w="12700">
            <a:solidFill>
              <a:srgbClr val="334155"/>
            </a:solidFill>
            <a:prstDash val="solid"/>
          </a:ln>
        </p:spPr>
      </p:sp>
      <p:sp>
        <p:nvSpPr>
          <p:cNvPr id="13" name="Text 11"/>
          <p:cNvSpPr/>
          <p:nvPr/>
        </p:nvSpPr>
        <p:spPr>
          <a:xfrm>
            <a:off x="320040" y="2770632"/>
            <a:ext cx="8503920" cy="393192"/>
          </a:xfrm>
          <a:prstGeom prst="rect">
            <a:avLst/>
          </a:prstGeom>
          <a:noFill/>
          <a:ln/>
        </p:spPr>
        <p:txBody>
          <a:bodyPr wrap="square"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VASP/Travel Rule  </a:t>
            </a:r>
            <a:pPr indent="0" marL="0">
              <a:buNone/>
            </a:pPr>
            <a:r>
              <a:rPr lang="en-US" sz="850" dirty="0">
                <a:solidFill>
                  <a:srgbClr val="CBD5E1"/>
                </a:solidFill>
                <a:latin typeface="Calibri" pitchFamily="34" charset="0"/>
                <a:ea typeface="Calibri" pitchFamily="34" charset="-122"/>
                <a:cs typeface="Calibri" pitchFamily="34" charset="-120"/>
              </a:rPr>
              <a:t>VASPs: FATF Rec 15 (framework). Travel Rule for VA transfers: Rec 16. Both originator AND beneficiary info required for transfers ≥$1,000.</a:t>
            </a:r>
            <a:endParaRPr lang="en-US" sz="900" dirty="0"/>
          </a:p>
        </p:txBody>
      </p:sp>
      <p:sp>
        <p:nvSpPr>
          <p:cNvPr id="14" name="Shape 12"/>
          <p:cNvSpPr/>
          <p:nvPr/>
        </p:nvSpPr>
        <p:spPr>
          <a:xfrm>
            <a:off x="182880" y="3227832"/>
            <a:ext cx="8778240" cy="475488"/>
          </a:xfrm>
          <a:prstGeom prst="roundRect">
            <a:avLst>
              <a:gd name="adj" fmla="val 7692"/>
            </a:avLst>
          </a:prstGeom>
          <a:solidFill>
            <a:srgbClr val="1E293B"/>
          </a:solidFill>
          <a:ln w="12700">
            <a:solidFill>
              <a:srgbClr val="334155"/>
            </a:solidFill>
            <a:prstDash val="solid"/>
          </a:ln>
        </p:spPr>
      </p:sp>
      <p:sp>
        <p:nvSpPr>
          <p:cNvPr id="15" name="Text 13"/>
          <p:cNvSpPr/>
          <p:nvPr/>
        </p:nvSpPr>
        <p:spPr>
          <a:xfrm>
            <a:off x="320040" y="3273552"/>
            <a:ext cx="8503920" cy="393192"/>
          </a:xfrm>
          <a:prstGeom prst="rect">
            <a:avLst/>
          </a:prstGeom>
          <a:noFill/>
          <a:ln/>
        </p:spPr>
        <p:txBody>
          <a:bodyPr wrap="square"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UK Bribery Act  </a:t>
            </a:r>
            <a:pPr indent="0" marL="0">
              <a:buNone/>
            </a:pPr>
            <a:r>
              <a:rPr lang="en-US" sz="850" dirty="0">
                <a:solidFill>
                  <a:srgbClr val="CBD5E1"/>
                </a:solidFill>
                <a:latin typeface="Calibri" pitchFamily="34" charset="0"/>
                <a:ea typeface="Calibri" pitchFamily="34" charset="-122"/>
                <a:cs typeface="Calibri" pitchFamily="34" charset="-120"/>
              </a:rPr>
              <a:t>ZERO tolerance for facilitation payments (unlike FCPA). Extraterritorial reach to UK companies globally.</a:t>
            </a:r>
            <a:endParaRPr lang="en-US" sz="900" dirty="0"/>
          </a:p>
        </p:txBody>
      </p:sp>
      <p:sp>
        <p:nvSpPr>
          <p:cNvPr id="16" name="Shape 14"/>
          <p:cNvSpPr/>
          <p:nvPr/>
        </p:nvSpPr>
        <p:spPr>
          <a:xfrm>
            <a:off x="182880" y="3730752"/>
            <a:ext cx="8778240" cy="475488"/>
          </a:xfrm>
          <a:prstGeom prst="roundRect">
            <a:avLst>
              <a:gd name="adj" fmla="val 7692"/>
            </a:avLst>
          </a:prstGeom>
          <a:solidFill>
            <a:srgbClr val="1E293B"/>
          </a:solidFill>
          <a:ln w="12700">
            <a:solidFill>
              <a:srgbClr val="334155"/>
            </a:solidFill>
            <a:prstDash val="solid"/>
          </a:ln>
        </p:spPr>
      </p:sp>
      <p:sp>
        <p:nvSpPr>
          <p:cNvPr id="17" name="Text 15"/>
          <p:cNvSpPr/>
          <p:nvPr/>
        </p:nvSpPr>
        <p:spPr>
          <a:xfrm>
            <a:off x="320040" y="3776472"/>
            <a:ext cx="8503920" cy="393192"/>
          </a:xfrm>
          <a:prstGeom prst="rect">
            <a:avLst/>
          </a:prstGeom>
          <a:noFill/>
          <a:ln/>
        </p:spPr>
        <p:txBody>
          <a:bodyPr wrap="square"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Structuring  </a:t>
            </a:r>
            <a:pPr indent="0" marL="0">
              <a:buNone/>
            </a:pPr>
            <a:r>
              <a:rPr lang="en-US" sz="850" dirty="0">
                <a:solidFill>
                  <a:srgbClr val="CBD5E1"/>
                </a:solidFill>
                <a:latin typeface="Calibri" pitchFamily="34" charset="0"/>
                <a:ea typeface="Calibri" pitchFamily="34" charset="-122"/>
                <a:cs typeface="Calibri" pitchFamily="34" charset="-120"/>
              </a:rPr>
              <a:t>Illegal even with CLEAN money. Breaking up deposits to avoid CTR thresholds = crime under 31 USC 5324.</a:t>
            </a:r>
            <a:endParaRPr lang="en-US" sz="900" dirty="0"/>
          </a:p>
        </p:txBody>
      </p:sp>
      <p:sp>
        <p:nvSpPr>
          <p:cNvPr id="18" name="Shape 16"/>
          <p:cNvSpPr/>
          <p:nvPr/>
        </p:nvSpPr>
        <p:spPr>
          <a:xfrm>
            <a:off x="182880" y="4233672"/>
            <a:ext cx="8778240" cy="475488"/>
          </a:xfrm>
          <a:prstGeom prst="roundRect">
            <a:avLst>
              <a:gd name="adj" fmla="val 7692"/>
            </a:avLst>
          </a:prstGeom>
          <a:solidFill>
            <a:srgbClr val="1E293B"/>
          </a:solidFill>
          <a:ln w="12700">
            <a:solidFill>
              <a:srgbClr val="334155"/>
            </a:solidFill>
            <a:prstDash val="solid"/>
          </a:ln>
        </p:spPr>
      </p:sp>
      <p:sp>
        <p:nvSpPr>
          <p:cNvPr id="19" name="Text 17"/>
          <p:cNvSpPr/>
          <p:nvPr/>
        </p:nvSpPr>
        <p:spPr>
          <a:xfrm>
            <a:off x="320040" y="4279392"/>
            <a:ext cx="8503920" cy="393192"/>
          </a:xfrm>
          <a:prstGeom prst="rect">
            <a:avLst/>
          </a:prstGeom>
          <a:noFill/>
          <a:ln/>
        </p:spPr>
        <p:txBody>
          <a:bodyPr wrap="square"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De-Risking  </a:t>
            </a:r>
            <a:pPr indent="0" marL="0">
              <a:buNone/>
            </a:pPr>
            <a:r>
              <a:rPr lang="en-US" sz="850" dirty="0">
                <a:solidFill>
                  <a:srgbClr val="CBD5E1"/>
                </a:solidFill>
                <a:latin typeface="Calibri" pitchFamily="34" charset="0"/>
                <a:ea typeface="Calibri" pitchFamily="34" charset="-122"/>
                <a:cs typeface="Calibri" pitchFamily="34" charset="-120"/>
              </a:rPr>
              <a:t>FATF opposes blanket termination. Risk management = assess + manage, not reflexively exit.</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2194560"/>
            <a:ext cx="9144000" cy="822960"/>
          </a:xfrm>
          <a:prstGeom prst="rect">
            <a:avLst/>
          </a:prstGeom>
          <a:solidFill>
            <a:srgbClr val="9B1C1C"/>
          </a:solidFill>
          <a:ln w="12700">
            <a:solidFill>
              <a:srgbClr val="9B1C1C"/>
            </a:solidFill>
            <a:prstDash val="solid"/>
          </a:ln>
        </p:spPr>
      </p:sp>
      <p:sp>
        <p:nvSpPr>
          <p:cNvPr id="3" name="Text 1"/>
          <p:cNvSpPr/>
          <p:nvPr/>
        </p:nvSpPr>
        <p:spPr>
          <a:xfrm>
            <a:off x="457200" y="1097280"/>
            <a:ext cx="8229600" cy="73152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CAMS Domain A — 45 Hard Questions Complete</a:t>
            </a:r>
            <a:endParaRPr lang="en-US" sz="2400" dirty="0"/>
          </a:p>
        </p:txBody>
      </p:sp>
      <p:sp>
        <p:nvSpPr>
          <p:cNvPr id="4" name="Text 2"/>
          <p:cNvSpPr/>
          <p:nvPr/>
        </p:nvSpPr>
        <p:spPr>
          <a:xfrm>
            <a:off x="457200" y="2240280"/>
            <a:ext cx="8229600" cy="73152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All answers verified against FATF Recommendations, US BSA, UK Bribery Act, and CAMS Study Guide principles</a:t>
            </a:r>
            <a:endParaRPr lang="en-US" sz="1200" dirty="0"/>
          </a:p>
        </p:txBody>
      </p:sp>
      <p:sp>
        <p:nvSpPr>
          <p:cNvPr id="5" name="Text 3"/>
          <p:cNvSpPr/>
          <p:nvPr/>
        </p:nvSpPr>
        <p:spPr>
          <a:xfrm>
            <a:off x="457200" y="3291840"/>
            <a:ext cx="8229600" cy="640080"/>
          </a:xfrm>
          <a:prstGeom prst="rect">
            <a:avLst/>
          </a:prstGeom>
          <a:noFill/>
          <a:ln/>
        </p:spPr>
        <p:txBody>
          <a:bodyPr wrap="square"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Study tip: for each question, understand WHY the wrong answers are wrong — exam distractors test the same misconceptions repeatedly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94</Slides>
  <Notes>94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94</vt:i4>
      </vt:variant>
    </vt:vector>
  </HeadingPairs>
  <TitlesOfParts>
    <vt:vector size="9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CAMS Domain A — 45 Hard Questions</dc:title>
  <dc:subject>PptxGenJS Presentation</dc:subject>
  <dc:creator>PptxGenJS</dc:creator>
  <cp:lastModifiedBy>PptxGenJS</cp:lastModifiedBy>
  <cp:revision>1</cp:revision>
  <dcterms:created xsi:type="dcterms:W3CDTF">2026-06-27T22:56:29Z</dcterms:created>
  <dcterms:modified xsi:type="dcterms:W3CDTF">2026-06-27T22:56:29Z</dcterms:modified>
</cp:coreProperties>
</file>